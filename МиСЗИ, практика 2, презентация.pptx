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59" r:id="rId9"/>
    <p:sldId id="260" r:id="rId10"/>
    <p:sldId id="273" r:id="rId11"/>
    <p:sldId id="274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644C2-F68D-4D73-AAA1-31EE4C6710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06691B-3FF0-4930-9414-479B07E54708}">
      <dgm:prSet/>
      <dgm:spPr/>
      <dgm:t>
        <a:bodyPr/>
        <a:lstStyle/>
        <a:p>
          <a:r>
            <a:rPr lang="en-US"/>
            <a:t>loss</a:t>
          </a:r>
          <a:r>
            <a:rPr lang="ru-RU"/>
            <a:t> = 0.382</a:t>
          </a:r>
          <a:endParaRPr lang="en-US"/>
        </a:p>
      </dgm:t>
    </dgm:pt>
    <dgm:pt modelId="{6980544B-2DBD-4A86-A7B7-AA93B6AB3B22}" type="parTrans" cxnId="{30E28CD0-E187-4915-A1C1-BC38277D84E0}">
      <dgm:prSet/>
      <dgm:spPr/>
      <dgm:t>
        <a:bodyPr/>
        <a:lstStyle/>
        <a:p>
          <a:endParaRPr lang="en-US"/>
        </a:p>
      </dgm:t>
    </dgm:pt>
    <dgm:pt modelId="{96508026-C383-480F-BF8E-309F3A8595C6}" type="sibTrans" cxnId="{30E28CD0-E187-4915-A1C1-BC38277D84E0}">
      <dgm:prSet/>
      <dgm:spPr/>
      <dgm:t>
        <a:bodyPr/>
        <a:lstStyle/>
        <a:p>
          <a:endParaRPr lang="en-US"/>
        </a:p>
      </dgm:t>
    </dgm:pt>
    <dgm:pt modelId="{977C221F-352E-480B-A1E1-6FE5B38BAA60}">
      <dgm:prSet/>
      <dgm:spPr/>
      <dgm:t>
        <a:bodyPr/>
        <a:lstStyle/>
        <a:p>
          <a:r>
            <a:rPr lang="ru-RU"/>
            <a:t>accuracy = 0.833</a:t>
          </a:r>
          <a:endParaRPr lang="en-US"/>
        </a:p>
      </dgm:t>
    </dgm:pt>
    <dgm:pt modelId="{B198EDF2-895A-431B-867A-362E20BB1C2F}" type="parTrans" cxnId="{B120355E-6798-4AF0-BA91-3C8CAF92ED48}">
      <dgm:prSet/>
      <dgm:spPr/>
      <dgm:t>
        <a:bodyPr/>
        <a:lstStyle/>
        <a:p>
          <a:endParaRPr lang="en-US"/>
        </a:p>
      </dgm:t>
    </dgm:pt>
    <dgm:pt modelId="{FDE79ABE-72CD-4EC3-AD77-BA06F579C36A}" type="sibTrans" cxnId="{B120355E-6798-4AF0-BA91-3C8CAF92ED48}">
      <dgm:prSet/>
      <dgm:spPr/>
      <dgm:t>
        <a:bodyPr/>
        <a:lstStyle/>
        <a:p>
          <a:endParaRPr lang="en-US"/>
        </a:p>
      </dgm:t>
    </dgm:pt>
    <dgm:pt modelId="{DAEFD33E-12F0-4972-8B0D-B6A2C2A8D80A}">
      <dgm:prSet/>
      <dgm:spPr/>
      <dgm:t>
        <a:bodyPr/>
        <a:lstStyle/>
        <a:p>
          <a:r>
            <a:rPr lang="ru-RU"/>
            <a:t>precision = 0.859</a:t>
          </a:r>
          <a:endParaRPr lang="en-US"/>
        </a:p>
      </dgm:t>
    </dgm:pt>
    <dgm:pt modelId="{DE4F411A-9FD2-4133-879F-E80EEEE457B6}" type="parTrans" cxnId="{00022AD1-33E5-4DCE-ADC5-736105A55E2C}">
      <dgm:prSet/>
      <dgm:spPr/>
      <dgm:t>
        <a:bodyPr/>
        <a:lstStyle/>
        <a:p>
          <a:endParaRPr lang="en-US"/>
        </a:p>
      </dgm:t>
    </dgm:pt>
    <dgm:pt modelId="{EA393FAC-AB28-4622-863A-217D6BB68173}" type="sibTrans" cxnId="{00022AD1-33E5-4DCE-ADC5-736105A55E2C}">
      <dgm:prSet/>
      <dgm:spPr/>
      <dgm:t>
        <a:bodyPr/>
        <a:lstStyle/>
        <a:p>
          <a:endParaRPr lang="en-US"/>
        </a:p>
      </dgm:t>
    </dgm:pt>
    <dgm:pt modelId="{ECAC2078-4236-4098-BC47-EA53761D687E}">
      <dgm:prSet/>
      <dgm:spPr/>
      <dgm:t>
        <a:bodyPr/>
        <a:lstStyle/>
        <a:p>
          <a:r>
            <a:rPr lang="ru-RU"/>
            <a:t>recall = 0.794</a:t>
          </a:r>
          <a:endParaRPr lang="en-US"/>
        </a:p>
      </dgm:t>
    </dgm:pt>
    <dgm:pt modelId="{453A0C80-72C1-4D97-8A7D-C647070CC415}" type="parTrans" cxnId="{B0AD74DA-A0B7-4D89-B880-F8C2ECD3AC69}">
      <dgm:prSet/>
      <dgm:spPr/>
      <dgm:t>
        <a:bodyPr/>
        <a:lstStyle/>
        <a:p>
          <a:endParaRPr lang="en-US"/>
        </a:p>
      </dgm:t>
    </dgm:pt>
    <dgm:pt modelId="{89F96C97-40D7-402C-9713-A1E736FAEFB5}" type="sibTrans" cxnId="{B0AD74DA-A0B7-4D89-B880-F8C2ECD3AC69}">
      <dgm:prSet/>
      <dgm:spPr/>
      <dgm:t>
        <a:bodyPr/>
        <a:lstStyle/>
        <a:p>
          <a:endParaRPr lang="en-US"/>
        </a:p>
      </dgm:t>
    </dgm:pt>
    <dgm:pt modelId="{931E4EDA-269B-4EB2-B0AA-CB5CE38277FA}" type="pres">
      <dgm:prSet presAssocID="{D3C644C2-F68D-4D73-AAA1-31EE4C671058}" presName="vert0" presStyleCnt="0">
        <dgm:presLayoutVars>
          <dgm:dir/>
          <dgm:animOne val="branch"/>
          <dgm:animLvl val="lvl"/>
        </dgm:presLayoutVars>
      </dgm:prSet>
      <dgm:spPr/>
    </dgm:pt>
    <dgm:pt modelId="{12B44293-2ACF-4907-A273-2F265D971842}" type="pres">
      <dgm:prSet presAssocID="{4E06691B-3FF0-4930-9414-479B07E54708}" presName="thickLine" presStyleLbl="alignNode1" presStyleIdx="0" presStyleCnt="4"/>
      <dgm:spPr/>
    </dgm:pt>
    <dgm:pt modelId="{11CA3B83-A3AF-4A65-8941-6E3C75CC04F4}" type="pres">
      <dgm:prSet presAssocID="{4E06691B-3FF0-4930-9414-479B07E54708}" presName="horz1" presStyleCnt="0"/>
      <dgm:spPr/>
    </dgm:pt>
    <dgm:pt modelId="{F20389A8-B723-4422-9DF3-24C50E203F55}" type="pres">
      <dgm:prSet presAssocID="{4E06691B-3FF0-4930-9414-479B07E54708}" presName="tx1" presStyleLbl="revTx" presStyleIdx="0" presStyleCnt="4"/>
      <dgm:spPr/>
    </dgm:pt>
    <dgm:pt modelId="{6636C49C-3ECB-4555-8740-66C795A721C2}" type="pres">
      <dgm:prSet presAssocID="{4E06691B-3FF0-4930-9414-479B07E54708}" presName="vert1" presStyleCnt="0"/>
      <dgm:spPr/>
    </dgm:pt>
    <dgm:pt modelId="{FAD280B1-716D-4142-9996-8DFE16041761}" type="pres">
      <dgm:prSet presAssocID="{977C221F-352E-480B-A1E1-6FE5B38BAA60}" presName="thickLine" presStyleLbl="alignNode1" presStyleIdx="1" presStyleCnt="4"/>
      <dgm:spPr/>
    </dgm:pt>
    <dgm:pt modelId="{43E0DF59-E7BF-462D-BB60-14E48BCC8DB1}" type="pres">
      <dgm:prSet presAssocID="{977C221F-352E-480B-A1E1-6FE5B38BAA60}" presName="horz1" presStyleCnt="0"/>
      <dgm:spPr/>
    </dgm:pt>
    <dgm:pt modelId="{9C6F155E-C968-4DD4-A4E1-38031939706B}" type="pres">
      <dgm:prSet presAssocID="{977C221F-352E-480B-A1E1-6FE5B38BAA60}" presName="tx1" presStyleLbl="revTx" presStyleIdx="1" presStyleCnt="4"/>
      <dgm:spPr/>
    </dgm:pt>
    <dgm:pt modelId="{BE43F30D-E6E9-4DA8-8E7F-901BAF5B4A7E}" type="pres">
      <dgm:prSet presAssocID="{977C221F-352E-480B-A1E1-6FE5B38BAA60}" presName="vert1" presStyleCnt="0"/>
      <dgm:spPr/>
    </dgm:pt>
    <dgm:pt modelId="{0D8F1B76-4D9B-4373-8BDF-45E6BB46B637}" type="pres">
      <dgm:prSet presAssocID="{DAEFD33E-12F0-4972-8B0D-B6A2C2A8D80A}" presName="thickLine" presStyleLbl="alignNode1" presStyleIdx="2" presStyleCnt="4"/>
      <dgm:spPr/>
    </dgm:pt>
    <dgm:pt modelId="{DFF6F6DE-411F-4599-BA18-880A8D863DDD}" type="pres">
      <dgm:prSet presAssocID="{DAEFD33E-12F0-4972-8B0D-B6A2C2A8D80A}" presName="horz1" presStyleCnt="0"/>
      <dgm:spPr/>
    </dgm:pt>
    <dgm:pt modelId="{6CBB980A-8FB2-4D6A-BD5B-E523280C6207}" type="pres">
      <dgm:prSet presAssocID="{DAEFD33E-12F0-4972-8B0D-B6A2C2A8D80A}" presName="tx1" presStyleLbl="revTx" presStyleIdx="2" presStyleCnt="4"/>
      <dgm:spPr/>
    </dgm:pt>
    <dgm:pt modelId="{F61719BD-FFE7-4C24-9A5F-E4A834445E0B}" type="pres">
      <dgm:prSet presAssocID="{DAEFD33E-12F0-4972-8B0D-B6A2C2A8D80A}" presName="vert1" presStyleCnt="0"/>
      <dgm:spPr/>
    </dgm:pt>
    <dgm:pt modelId="{B68B1DE9-0293-4DC6-ADCF-F4C4F07275AE}" type="pres">
      <dgm:prSet presAssocID="{ECAC2078-4236-4098-BC47-EA53761D687E}" presName="thickLine" presStyleLbl="alignNode1" presStyleIdx="3" presStyleCnt="4"/>
      <dgm:spPr/>
    </dgm:pt>
    <dgm:pt modelId="{06263325-1A40-4EF7-B97A-4F81C31627F1}" type="pres">
      <dgm:prSet presAssocID="{ECAC2078-4236-4098-BC47-EA53761D687E}" presName="horz1" presStyleCnt="0"/>
      <dgm:spPr/>
    </dgm:pt>
    <dgm:pt modelId="{222CBC84-567B-4160-8276-7904C9B5E954}" type="pres">
      <dgm:prSet presAssocID="{ECAC2078-4236-4098-BC47-EA53761D687E}" presName="tx1" presStyleLbl="revTx" presStyleIdx="3" presStyleCnt="4"/>
      <dgm:spPr/>
    </dgm:pt>
    <dgm:pt modelId="{458A834F-6C97-4522-B6B8-4BDC984A4A32}" type="pres">
      <dgm:prSet presAssocID="{ECAC2078-4236-4098-BC47-EA53761D687E}" presName="vert1" presStyleCnt="0"/>
      <dgm:spPr/>
    </dgm:pt>
  </dgm:ptLst>
  <dgm:cxnLst>
    <dgm:cxn modelId="{01BB4516-3562-4376-BFFB-A02319E6CD79}" type="presOf" srcId="{977C221F-352E-480B-A1E1-6FE5B38BAA60}" destId="{9C6F155E-C968-4DD4-A4E1-38031939706B}" srcOrd="0" destOrd="0" presId="urn:microsoft.com/office/officeart/2008/layout/LinedList"/>
    <dgm:cxn modelId="{B120355E-6798-4AF0-BA91-3C8CAF92ED48}" srcId="{D3C644C2-F68D-4D73-AAA1-31EE4C671058}" destId="{977C221F-352E-480B-A1E1-6FE5B38BAA60}" srcOrd="1" destOrd="0" parTransId="{B198EDF2-895A-431B-867A-362E20BB1C2F}" sibTransId="{FDE79ABE-72CD-4EC3-AD77-BA06F579C36A}"/>
    <dgm:cxn modelId="{BFC83053-B888-46C5-8C01-3928B80BF119}" type="presOf" srcId="{DAEFD33E-12F0-4972-8B0D-B6A2C2A8D80A}" destId="{6CBB980A-8FB2-4D6A-BD5B-E523280C6207}" srcOrd="0" destOrd="0" presId="urn:microsoft.com/office/officeart/2008/layout/LinedList"/>
    <dgm:cxn modelId="{E951BAA7-6549-403C-BA00-1863B860B8C0}" type="presOf" srcId="{4E06691B-3FF0-4930-9414-479B07E54708}" destId="{F20389A8-B723-4422-9DF3-24C50E203F55}" srcOrd="0" destOrd="0" presId="urn:microsoft.com/office/officeart/2008/layout/LinedList"/>
    <dgm:cxn modelId="{F8A036AE-4CCE-46AC-97AF-8BE3FFD740D7}" type="presOf" srcId="{D3C644C2-F68D-4D73-AAA1-31EE4C671058}" destId="{931E4EDA-269B-4EB2-B0AA-CB5CE38277FA}" srcOrd="0" destOrd="0" presId="urn:microsoft.com/office/officeart/2008/layout/LinedList"/>
    <dgm:cxn modelId="{D5ABCACE-549A-49E8-B15F-ACBAD5ACE00F}" type="presOf" srcId="{ECAC2078-4236-4098-BC47-EA53761D687E}" destId="{222CBC84-567B-4160-8276-7904C9B5E954}" srcOrd="0" destOrd="0" presId="urn:microsoft.com/office/officeart/2008/layout/LinedList"/>
    <dgm:cxn modelId="{30E28CD0-E187-4915-A1C1-BC38277D84E0}" srcId="{D3C644C2-F68D-4D73-AAA1-31EE4C671058}" destId="{4E06691B-3FF0-4930-9414-479B07E54708}" srcOrd="0" destOrd="0" parTransId="{6980544B-2DBD-4A86-A7B7-AA93B6AB3B22}" sibTransId="{96508026-C383-480F-BF8E-309F3A8595C6}"/>
    <dgm:cxn modelId="{00022AD1-33E5-4DCE-ADC5-736105A55E2C}" srcId="{D3C644C2-F68D-4D73-AAA1-31EE4C671058}" destId="{DAEFD33E-12F0-4972-8B0D-B6A2C2A8D80A}" srcOrd="2" destOrd="0" parTransId="{DE4F411A-9FD2-4133-879F-E80EEEE457B6}" sibTransId="{EA393FAC-AB28-4622-863A-217D6BB68173}"/>
    <dgm:cxn modelId="{B0AD74DA-A0B7-4D89-B880-F8C2ECD3AC69}" srcId="{D3C644C2-F68D-4D73-AAA1-31EE4C671058}" destId="{ECAC2078-4236-4098-BC47-EA53761D687E}" srcOrd="3" destOrd="0" parTransId="{453A0C80-72C1-4D97-8A7D-C647070CC415}" sibTransId="{89F96C97-40D7-402C-9713-A1E736FAEFB5}"/>
    <dgm:cxn modelId="{04A30654-F696-47F7-AD04-941326CA1749}" type="presParOf" srcId="{931E4EDA-269B-4EB2-B0AA-CB5CE38277FA}" destId="{12B44293-2ACF-4907-A273-2F265D971842}" srcOrd="0" destOrd="0" presId="urn:microsoft.com/office/officeart/2008/layout/LinedList"/>
    <dgm:cxn modelId="{8A8BFA07-AADB-4CDE-A81A-9DC0B7E4A202}" type="presParOf" srcId="{931E4EDA-269B-4EB2-B0AA-CB5CE38277FA}" destId="{11CA3B83-A3AF-4A65-8941-6E3C75CC04F4}" srcOrd="1" destOrd="0" presId="urn:microsoft.com/office/officeart/2008/layout/LinedList"/>
    <dgm:cxn modelId="{8CD25923-50E2-4925-82E2-DE46A54C745C}" type="presParOf" srcId="{11CA3B83-A3AF-4A65-8941-6E3C75CC04F4}" destId="{F20389A8-B723-4422-9DF3-24C50E203F55}" srcOrd="0" destOrd="0" presId="urn:microsoft.com/office/officeart/2008/layout/LinedList"/>
    <dgm:cxn modelId="{9599187D-E247-4561-9B3B-8618B66A4C3F}" type="presParOf" srcId="{11CA3B83-A3AF-4A65-8941-6E3C75CC04F4}" destId="{6636C49C-3ECB-4555-8740-66C795A721C2}" srcOrd="1" destOrd="0" presId="urn:microsoft.com/office/officeart/2008/layout/LinedList"/>
    <dgm:cxn modelId="{1C328DB6-B150-4A04-9D17-207096BB6E9B}" type="presParOf" srcId="{931E4EDA-269B-4EB2-B0AA-CB5CE38277FA}" destId="{FAD280B1-716D-4142-9996-8DFE16041761}" srcOrd="2" destOrd="0" presId="urn:microsoft.com/office/officeart/2008/layout/LinedList"/>
    <dgm:cxn modelId="{22ECB470-B90C-4679-97A8-EBBD4989977B}" type="presParOf" srcId="{931E4EDA-269B-4EB2-B0AA-CB5CE38277FA}" destId="{43E0DF59-E7BF-462D-BB60-14E48BCC8DB1}" srcOrd="3" destOrd="0" presId="urn:microsoft.com/office/officeart/2008/layout/LinedList"/>
    <dgm:cxn modelId="{7B9A07B7-D430-404B-BACF-D057D62B1AE5}" type="presParOf" srcId="{43E0DF59-E7BF-462D-BB60-14E48BCC8DB1}" destId="{9C6F155E-C968-4DD4-A4E1-38031939706B}" srcOrd="0" destOrd="0" presId="urn:microsoft.com/office/officeart/2008/layout/LinedList"/>
    <dgm:cxn modelId="{F9605494-76B2-4E64-A052-978AD162BE35}" type="presParOf" srcId="{43E0DF59-E7BF-462D-BB60-14E48BCC8DB1}" destId="{BE43F30D-E6E9-4DA8-8E7F-901BAF5B4A7E}" srcOrd="1" destOrd="0" presId="urn:microsoft.com/office/officeart/2008/layout/LinedList"/>
    <dgm:cxn modelId="{8F3B7161-E3BD-488C-B7F9-16E211DF1DBC}" type="presParOf" srcId="{931E4EDA-269B-4EB2-B0AA-CB5CE38277FA}" destId="{0D8F1B76-4D9B-4373-8BDF-45E6BB46B637}" srcOrd="4" destOrd="0" presId="urn:microsoft.com/office/officeart/2008/layout/LinedList"/>
    <dgm:cxn modelId="{5049E442-5262-4BA8-B8C5-10A34E5DF790}" type="presParOf" srcId="{931E4EDA-269B-4EB2-B0AA-CB5CE38277FA}" destId="{DFF6F6DE-411F-4599-BA18-880A8D863DDD}" srcOrd="5" destOrd="0" presId="urn:microsoft.com/office/officeart/2008/layout/LinedList"/>
    <dgm:cxn modelId="{C69DCCE0-AF54-4A14-9836-B3136EE83A77}" type="presParOf" srcId="{DFF6F6DE-411F-4599-BA18-880A8D863DDD}" destId="{6CBB980A-8FB2-4D6A-BD5B-E523280C6207}" srcOrd="0" destOrd="0" presId="urn:microsoft.com/office/officeart/2008/layout/LinedList"/>
    <dgm:cxn modelId="{93263AE1-7D87-441B-887C-090BF447F7DF}" type="presParOf" srcId="{DFF6F6DE-411F-4599-BA18-880A8D863DDD}" destId="{F61719BD-FFE7-4C24-9A5F-E4A834445E0B}" srcOrd="1" destOrd="0" presId="urn:microsoft.com/office/officeart/2008/layout/LinedList"/>
    <dgm:cxn modelId="{47909325-B7C2-4B3F-8B9C-780F8FEFD567}" type="presParOf" srcId="{931E4EDA-269B-4EB2-B0AA-CB5CE38277FA}" destId="{B68B1DE9-0293-4DC6-ADCF-F4C4F07275AE}" srcOrd="6" destOrd="0" presId="urn:microsoft.com/office/officeart/2008/layout/LinedList"/>
    <dgm:cxn modelId="{BC0D4242-2539-4A02-8D15-196A488F0AE7}" type="presParOf" srcId="{931E4EDA-269B-4EB2-B0AA-CB5CE38277FA}" destId="{06263325-1A40-4EF7-B97A-4F81C31627F1}" srcOrd="7" destOrd="0" presId="urn:microsoft.com/office/officeart/2008/layout/LinedList"/>
    <dgm:cxn modelId="{AD21DDE1-435A-4094-B9DC-6F5F09265F16}" type="presParOf" srcId="{06263325-1A40-4EF7-B97A-4F81C31627F1}" destId="{222CBC84-567B-4160-8276-7904C9B5E954}" srcOrd="0" destOrd="0" presId="urn:microsoft.com/office/officeart/2008/layout/LinedList"/>
    <dgm:cxn modelId="{4DC170EA-B577-49F4-BAB1-7E58E52A95FC}" type="presParOf" srcId="{06263325-1A40-4EF7-B97A-4F81C31627F1}" destId="{458A834F-6C97-4522-B6B8-4BDC984A4A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4293-2ACF-4907-A273-2F265D97184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389A8-B723-4422-9DF3-24C50E203F55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loss</a:t>
          </a:r>
          <a:r>
            <a:rPr lang="ru-RU" sz="5000" kern="1200"/>
            <a:t> = 0.382</a:t>
          </a:r>
          <a:endParaRPr lang="en-US" sz="5000" kern="1200"/>
        </a:p>
      </dsp:txBody>
      <dsp:txXfrm>
        <a:off x="0" y="0"/>
        <a:ext cx="10515600" cy="1087834"/>
      </dsp:txXfrm>
    </dsp:sp>
    <dsp:sp modelId="{FAD280B1-716D-4142-9996-8DFE16041761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F155E-C968-4DD4-A4E1-38031939706B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/>
            <a:t>accuracy = 0.833</a:t>
          </a:r>
          <a:endParaRPr lang="en-US" sz="5000" kern="1200"/>
        </a:p>
      </dsp:txBody>
      <dsp:txXfrm>
        <a:off x="0" y="1087834"/>
        <a:ext cx="10515600" cy="1087834"/>
      </dsp:txXfrm>
    </dsp:sp>
    <dsp:sp modelId="{0D8F1B76-4D9B-4373-8BDF-45E6BB46B63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B980A-8FB2-4D6A-BD5B-E523280C620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/>
            <a:t>precision = 0.859</a:t>
          </a:r>
          <a:endParaRPr lang="en-US" sz="5000" kern="1200"/>
        </a:p>
      </dsp:txBody>
      <dsp:txXfrm>
        <a:off x="0" y="2175669"/>
        <a:ext cx="10515600" cy="1087834"/>
      </dsp:txXfrm>
    </dsp:sp>
    <dsp:sp modelId="{B68B1DE9-0293-4DC6-ADCF-F4C4F07275AE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CBC84-567B-4160-8276-7904C9B5E95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/>
            <a:t>recall = 0.794</a:t>
          </a:r>
          <a:endParaRPr lang="en-US" sz="5000" kern="1200"/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1BEAE-70CD-5B0C-4027-A34FF2361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DC6B7E-765B-37E2-8289-B71EB2A05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727F41-4562-C1E4-E80E-2B3F6FF7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31F7E-64F8-60AF-0C11-9F470585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3EEE4-8BE5-06E1-4114-CF1E69F3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00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EBB48-45E9-E3B5-66FE-E3CBF4E1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23328-300C-99A3-8940-A56530CC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FFFDE9-9B84-0598-2A28-10B56E9B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5A32BD-CDEF-AF3C-7838-5D090A07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E1027-407C-97AA-375B-FD174E61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11648-431F-7164-AD68-74A1705C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9D2FDB-CC43-89EB-44B7-E68FFAC78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89243-A95E-7949-6042-41F206CD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354BD-4F02-2B6A-1A80-D65B8F18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F5BE9E-16C7-055A-ADDA-D5A80C42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30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57E6A-E01C-77F7-A467-A4D3E031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E4B31-E545-2BB9-A4AD-559A8E7B4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97E4D9-57FD-2E2D-59C9-5706CA99B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91EE02-3EA1-50FD-73EB-055741A0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5D0BF2-F7C0-BB59-F517-2B83F619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4E4812-3A2F-BC61-19ED-71D6273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A54FC-0959-A1AE-507C-DFBC7D22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D54889-FE7F-8B45-F68A-D6ABE2319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AAD47C-5D20-1F64-4A13-F6C4BA689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4869AF-2A9E-62BF-F4E9-B799CB337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937FD8-EC1D-7FF6-411B-EA4F80F4E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8DE4C1-7366-5A92-27E8-24714923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FCAF5C-5B4A-0148-9714-DD1E00E4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9A9DEF-AEF1-20AC-9792-C7B73A7E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32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72F09-A5C9-C54F-18FF-9203A8E9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AF411F-13B5-81F3-04A7-16588180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9B8148-34C6-D91E-3BB5-53CD5B4E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0384D0-6D87-BB76-690F-A61DEAE6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9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2C3AD4-395E-455D-9375-CE1C4B77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B6568E-3E97-7E36-F847-8D849361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30E577-8F0D-FA82-C652-91B67F5C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3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429B6-6A0B-B06D-070A-C8FC8A52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E4FFB-8615-6E57-FBA2-9A524AC3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142BC-8EBA-533C-F45C-1D842D262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EF72D6-01E2-8E0E-DD3F-B2720E1A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B8B371-DE40-D71E-F0D8-33F3FED11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09C1B8-3A2E-0AF5-C9AC-CA406497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50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3D36-8889-7140-BD3E-EE82DD6F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E2E8A8-0B83-A164-BD84-811DC523B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730BA1-36CF-6445-4B28-C72C32F99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B7307F-D3F3-7D73-A70B-0B10FDA5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2FBD91-2E62-C993-4353-CE32D33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9BA0C7-DBEA-D5C8-F9D0-C5CC2DB0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56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9EA54-1454-8036-6D9C-839299C2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FC8BC3-D40D-172A-171C-282E0AEB6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A928E4-597B-BAB0-3AEB-7D259B3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A49B9-3D57-4C21-1C8B-6D17519A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7B45E0-5895-3F0B-1975-2650BAA4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35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E100F0E-C23E-DE99-5A54-84CA227DC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1A348F-C82A-5E84-A789-23E0B42F7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F6D94C-8C8A-EED6-8AA1-44C107C1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9F35E-F819-D577-B8C0-87753D3F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735943-31B7-0BFA-9639-4079B95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06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D15BE-953F-E3B4-E61C-DEAB24D6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6604B5-F6F3-FDC5-8F90-806CF4E1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303F0-9C49-E5A7-1AAD-565EA6173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360A8-18F0-49A8-AE7F-7EE4AB7BECD9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5D89F9-3EA0-EDBF-719D-9823A7CEE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6FC3C-EF7A-DB35-68EB-03EBA8FFB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A5152-553F-4252-BBA0-5FE18AB6D9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47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2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34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4D17F-86AB-7C49-7CFA-EA9E6681A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1" y="258211"/>
            <a:ext cx="4809744" cy="21138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ru-RU" sz="4400" b="1" noProof="0" dirty="0"/>
              <a:t>Определение сгенерированных изображений лиц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2DA24C-3EB0-10EC-A45B-02DCE1A3D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33" y="3428998"/>
            <a:ext cx="3158741" cy="27234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Агафонов</a:t>
            </a:r>
            <a:r>
              <a:rPr lang="en-US" sz="2000" b="1" dirty="0"/>
              <a:t> Р.В.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Вахитов</a:t>
            </a:r>
            <a:r>
              <a:rPr lang="en-US" sz="2000" b="1" dirty="0"/>
              <a:t> Т.Р.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Лепоринский</a:t>
            </a:r>
            <a:r>
              <a:rPr lang="en-US" sz="2000" b="1" dirty="0"/>
              <a:t> Г.А.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Шарыгин</a:t>
            </a:r>
            <a:r>
              <a:rPr lang="en-US" sz="2000" b="1" dirty="0"/>
              <a:t> М.С.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Юлдашева</a:t>
            </a:r>
            <a:r>
              <a:rPr lang="en-US" sz="2000" b="1" dirty="0"/>
              <a:t> Г.А.</a:t>
            </a:r>
          </a:p>
        </p:txBody>
      </p:sp>
      <p:pic>
        <p:nvPicPr>
          <p:cNvPr id="1028" name="Picture 4" descr="DeepFake: как распознать и как защититься. Кибрарий – библиотека знаний по  кибербезопасности. Всё самое важное и полезное о том, как защитить себя в  цифровом мире.">
            <a:extLst>
              <a:ext uri="{FF2B5EF4-FFF2-40B4-BE49-F238E27FC236}">
                <a16:creationId xmlns:a16="http://schemas.microsoft.com/office/drawing/2014/main" id="{83CB8495-F5B7-A0D1-6BB8-E86887509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9" r="21871" b="-1"/>
          <a:stretch>
            <a:fillRect/>
          </a:stretch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870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0E95E-DC6C-40CA-2EEA-F1FE1E88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ru-RU" b="1" dirty="0"/>
              <a:t>Проблема</a:t>
            </a:r>
          </a:p>
        </p:txBody>
      </p:sp>
      <p:pic>
        <p:nvPicPr>
          <p:cNvPr id="2050" name="Picture 2" descr="Дипфейки назвали новой угрозой человечеству">
            <a:extLst>
              <a:ext uri="{FF2B5EF4-FFF2-40B4-BE49-F238E27FC236}">
                <a16:creationId xmlns:a16="http://schemas.microsoft.com/office/drawing/2014/main" id="{E4363DFC-805F-B082-863B-4C09F9A6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8" r="16175"/>
          <a:stretch>
            <a:fillRect/>
          </a:stretch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DD670701-FB2E-738C-239C-B2EDA5DE0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1837944"/>
            <a:ext cx="4493583" cy="4264744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000" dirty="0"/>
              <a:t>Дипфейк – это метод синтеза контента, основанный на машинном обучении и искусственном интеллекте. Нейросетевая модель изменяет исходные изображения, путем наложения фрагментов на него контента, либо синтезирует новые [изображения] из уже имеющихся. Таким образом нейросеть может подменять лица, мимику, жесты и голос в видео или звуковой дорожке.</a:t>
            </a:r>
          </a:p>
        </p:txBody>
      </p:sp>
    </p:spTree>
    <p:extLst>
      <p:ext uri="{BB962C8B-B14F-4D97-AF65-F5344CB8AC3E}">
        <p14:creationId xmlns:p14="http://schemas.microsoft.com/office/powerpoint/2010/main" val="2047569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BEA38-09D1-5C85-18BE-68FF4C0F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ru-RU" b="1" dirty="0"/>
              <a:t>Проблема</a:t>
            </a:r>
          </a:p>
        </p:txBody>
      </p:sp>
      <p:pic>
        <p:nvPicPr>
          <p:cNvPr id="3078" name="Picture 6" descr="Дипфейки: что это такое и как они меняют наш мир? - Ведомости">
            <a:extLst>
              <a:ext uri="{FF2B5EF4-FFF2-40B4-BE49-F238E27FC236}">
                <a16:creationId xmlns:a16="http://schemas.microsoft.com/office/drawing/2014/main" id="{85A73F3C-4F0B-B61B-401A-942F21639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" r="-2" b="-2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0B79AC4-C704-A793-0E17-07EE04C3F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544" y="670559"/>
            <a:ext cx="5330952" cy="5445076"/>
          </a:xfrm>
        </p:spPr>
        <p:txBody>
          <a:bodyPr anchor="t">
            <a:normAutofit/>
          </a:bodyPr>
          <a:lstStyle/>
          <a:p>
            <a:pPr marL="0" indent="457200" algn="just">
              <a:buNone/>
            </a:pPr>
            <a:r>
              <a:rPr lang="ru-RU" sz="2400" dirty="0"/>
              <a:t>Данная технология может быть использована и для манипуляции общественным сознанием. Так, дипфейки с участием политических деятелей, знаменитых актёров и иных известных персон могут создавать как шутники, так и мошенники. Несанкционированные цифровые копии могут считаться посягательством на использование чьей-то личности или чужого бренда.</a:t>
            </a:r>
          </a:p>
        </p:txBody>
      </p:sp>
    </p:spTree>
    <p:extLst>
      <p:ext uri="{BB962C8B-B14F-4D97-AF65-F5344CB8AC3E}">
        <p14:creationId xmlns:p14="http://schemas.microsoft.com/office/powerpoint/2010/main" val="4138381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831E0-77BD-01A2-DE01-EC7F2BD5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7" name="Rectangle 411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57B14-D3BF-D37C-11A6-2FAF7212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6" y="3703975"/>
            <a:ext cx="4337858" cy="23987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Проблема</a:t>
            </a:r>
            <a:endParaRPr lang="ru-RU" sz="4000" b="1" dirty="0"/>
          </a:p>
        </p:txBody>
      </p:sp>
      <p:pic>
        <p:nvPicPr>
          <p:cNvPr id="4098" name="Picture 2" descr="Такой разный ИИ: дипфейки, NLP и кибербезопасность">
            <a:extLst>
              <a:ext uri="{FF2B5EF4-FFF2-40B4-BE49-F238E27FC236}">
                <a16:creationId xmlns:a16="http://schemas.microsoft.com/office/drawing/2014/main" id="{EAFF274B-7581-39AC-5F42-29DDB88D6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7" b="23514"/>
          <a:stretch>
            <a:fillRect/>
          </a:stretch>
        </p:blipFill>
        <p:spPr bwMode="auto">
          <a:xfrm>
            <a:off x="2" y="10"/>
            <a:ext cx="12191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A7BCA10-D832-A538-B7E1-0686B80D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9000"/>
            <a:ext cx="5489448" cy="3154013"/>
          </a:xfrm>
        </p:spPr>
        <p:txBody>
          <a:bodyPr anchor="ctr">
            <a:normAutofit lnSpcReduction="10000"/>
          </a:bodyPr>
          <a:lstStyle/>
          <a:p>
            <a:pPr indent="457200" algn="just">
              <a:buNone/>
            </a:pPr>
            <a:r>
              <a:rPr lang="ru-RU" sz="2400" dirty="0"/>
              <a:t>Известны случаи, когда мошенники с помощью дипфейка маскировались под родственников или друзей. Пострадавшие переводили деньги злоумышленникам, потому что считали, что их попросили знакомые люди, а на самом же деле голос или изображение были сгенерированы нейросетью.</a:t>
            </a:r>
          </a:p>
        </p:txBody>
      </p:sp>
    </p:spTree>
    <p:extLst>
      <p:ext uri="{BB962C8B-B14F-4D97-AF65-F5344CB8AC3E}">
        <p14:creationId xmlns:p14="http://schemas.microsoft.com/office/powerpoint/2010/main" val="1153011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023E7-56E5-16FF-99B6-D3CF5097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00C5E-943A-0852-4D8C-BF37F8BB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ru-RU" b="1" dirty="0"/>
              <a:t>Актуальность</a:t>
            </a:r>
          </a:p>
        </p:txBody>
      </p:sp>
      <p:pic>
        <p:nvPicPr>
          <p:cNvPr id="5122" name="Picture 2" descr="Средства связи Изображения – скачать бесплатно на Freepik">
            <a:extLst>
              <a:ext uri="{FF2B5EF4-FFF2-40B4-BE49-F238E27FC236}">
                <a16:creationId xmlns:a16="http://schemas.microsoft.com/office/drawing/2014/main" id="{9740D29E-0917-9AA2-07F7-55DBC9D64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3" r="21232" b="-2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BAA9CBD-5108-F30F-9B9B-790A3DBC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1801368"/>
            <a:ext cx="5318548" cy="4375595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400" dirty="0"/>
              <a:t>Проблема мошенничества с использованием дипфейков нуждается в комплексном решении. Сегодня, когда у абсолютного большинства населения имеется возможность общаться с помощью электронной почты, мессенджеров, аудио и видеозвонков, возникают сложности с определением реальности собеседника, так как это может быть как реальный человек, так и злоумышленник.</a:t>
            </a:r>
          </a:p>
        </p:txBody>
      </p:sp>
    </p:spTree>
    <p:extLst>
      <p:ext uri="{BB962C8B-B14F-4D97-AF65-F5344CB8AC3E}">
        <p14:creationId xmlns:p14="http://schemas.microsoft.com/office/powerpoint/2010/main" val="3355223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30D62-9183-656D-BB8E-DEB88439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9B947-5A9C-7E7B-2F04-F901D5AC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9912"/>
            <a:ext cx="5251316" cy="1287135"/>
          </a:xfrm>
        </p:spPr>
        <p:txBody>
          <a:bodyPr>
            <a:normAutofit/>
          </a:bodyPr>
          <a:lstStyle/>
          <a:p>
            <a:r>
              <a:rPr lang="ru-RU" b="1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CE6605-767F-4816-1649-BB2A110D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1867566"/>
            <a:ext cx="5251316" cy="4649915"/>
          </a:xfrm>
        </p:spPr>
        <p:txBody>
          <a:bodyPr>
            <a:normAutofit lnSpcReduction="10000"/>
          </a:bodyPr>
          <a:lstStyle/>
          <a:p>
            <a:pPr marL="0" indent="457200" algn="just">
              <a:buNone/>
            </a:pPr>
            <a:r>
              <a:rPr lang="ru-RU" sz="2400" dirty="0"/>
              <a:t>Взрослые люди особенно подвержены опасности, так как не обладают актуальными знаниями в областях искусственного интеллекта и машинного обучения и даже не предполагают о том, что взаимодействующий человек может быть не тем, кем является. Этот мошенник, притворяющийся знакомым, может требовать немедленного перевода денежных средств, аргументируя тем, что попал в проблему, нуждающуюся в срочном решении.</a:t>
            </a:r>
          </a:p>
        </p:txBody>
      </p:sp>
      <p:pic>
        <p:nvPicPr>
          <p:cNvPr id="6146" name="Picture 2" descr="Более 182 900 работ на тему «мошенник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1C9AD22C-D968-16BF-A4A8-3A406317F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1" r="15941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782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064BA-22DA-5C44-9A5C-1F81279F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7" name="Rectangle 7178">
            <a:extLst>
              <a:ext uri="{FF2B5EF4-FFF2-40B4-BE49-F238E27FC236}">
                <a16:creationId xmlns:a16="http://schemas.microsoft.com/office/drawing/2014/main" id="{70DFA0FD-AB28-4B25-B870-4D2BBC35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4" name="Picture 6" descr="МВД – официальный сайт, что такое МВД, кто основатель компании и сколько лет">
            <a:extLst>
              <a:ext uri="{FF2B5EF4-FFF2-40B4-BE49-F238E27FC236}">
                <a16:creationId xmlns:a16="http://schemas.microsoft.com/office/drawing/2014/main" id="{F531E1D0-0DB9-4C0E-EFFE-AF6CA23EA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" r="4708"/>
          <a:stretch>
            <a:fillRect/>
          </a:stretch>
        </p:blipFill>
        <p:spPr bwMode="auto">
          <a:xfrm>
            <a:off x="5833976" y="10"/>
            <a:ext cx="63941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81" name="Group 7180">
            <a:extLst>
              <a:ext uri="{FF2B5EF4-FFF2-40B4-BE49-F238E27FC236}">
                <a16:creationId xmlns:a16="http://schemas.microsoft.com/office/drawing/2014/main" id="{0D628DFB-9CD1-4E2B-8B44-9FDF7E80F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9564" y="0"/>
            <a:ext cx="6648564" cy="6858000"/>
            <a:chOff x="5705128" y="0"/>
            <a:chExt cx="6648564" cy="6858000"/>
          </a:xfrm>
        </p:grpSpPr>
        <p:sp>
          <p:nvSpPr>
            <p:cNvPr id="7182" name="Freeform: Shape 7181">
              <a:extLst>
                <a:ext uri="{FF2B5EF4-FFF2-40B4-BE49-F238E27FC236}">
                  <a16:creationId xmlns:a16="http://schemas.microsoft.com/office/drawing/2014/main" id="{4CB07514-66C4-498E-85FA-6CCDFB253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8018" y="0"/>
              <a:ext cx="6485674" cy="6858000"/>
            </a:xfrm>
            <a:custGeom>
              <a:avLst/>
              <a:gdLst>
                <a:gd name="connsiteX0" fmla="*/ 1720317 w 6237794"/>
                <a:gd name="connsiteY0" fmla="*/ 0 h 6858000"/>
                <a:gd name="connsiteX1" fmla="*/ 2433560 w 6237794"/>
                <a:gd name="connsiteY1" fmla="*/ 0 h 6858000"/>
                <a:gd name="connsiteX2" fmla="*/ 2351473 w 6237794"/>
                <a:gd name="connsiteY2" fmla="*/ 41605 h 6858000"/>
                <a:gd name="connsiteX3" fmla="*/ 1473152 w 6237794"/>
                <a:gd name="connsiteY3" fmla="*/ 667521 h 6858000"/>
                <a:gd name="connsiteX4" fmla="*/ 982876 w 6237794"/>
                <a:gd name="connsiteY4" fmla="*/ 1193803 h 6858000"/>
                <a:gd name="connsiteX5" fmla="*/ 595242 w 6237794"/>
                <a:gd name="connsiteY5" fmla="*/ 1798192 h 6858000"/>
                <a:gd name="connsiteX6" fmla="*/ 332174 w 6237794"/>
                <a:gd name="connsiteY6" fmla="*/ 2466315 h 6858000"/>
                <a:gd name="connsiteX7" fmla="*/ 236500 w 6237794"/>
                <a:gd name="connsiteY7" fmla="*/ 3178573 h 6858000"/>
                <a:gd name="connsiteX8" fmla="*/ 276860 w 6237794"/>
                <a:gd name="connsiteY8" fmla="*/ 3527298 h 6858000"/>
                <a:gd name="connsiteX9" fmla="*/ 396054 w 6237794"/>
                <a:gd name="connsiteY9" fmla="*/ 3853520 h 6858000"/>
                <a:gd name="connsiteX10" fmla="*/ 479243 w 6237794"/>
                <a:gd name="connsiteY10" fmla="*/ 4007121 h 6858000"/>
                <a:gd name="connsiteX11" fmla="*/ 574772 w 6237794"/>
                <a:gd name="connsiteY11" fmla="*/ 4155787 h 6858000"/>
                <a:gd name="connsiteX12" fmla="*/ 795447 w 6237794"/>
                <a:gd name="connsiteY12" fmla="*/ 4443100 h 6858000"/>
                <a:gd name="connsiteX13" fmla="*/ 1034270 w 6237794"/>
                <a:gd name="connsiteY13" fmla="*/ 4732591 h 6858000"/>
                <a:gd name="connsiteX14" fmla="*/ 1153028 w 6237794"/>
                <a:gd name="connsiteY14" fmla="*/ 4883725 h 6858000"/>
                <a:gd name="connsiteX15" fmla="*/ 1210084 w 6237794"/>
                <a:gd name="connsiteY15" fmla="*/ 4957912 h 6858000"/>
                <a:gd name="connsiteX16" fmla="*/ 1265979 w 6237794"/>
                <a:gd name="connsiteY16" fmla="*/ 5028906 h 6858000"/>
                <a:gd name="connsiteX17" fmla="*/ 1746238 w 6237794"/>
                <a:gd name="connsiteY17" fmla="*/ 5553590 h 6858000"/>
                <a:gd name="connsiteX18" fmla="*/ 2001611 w 6237794"/>
                <a:gd name="connsiteY18" fmla="*/ 5789654 h 6858000"/>
                <a:gd name="connsiteX19" fmla="*/ 2269035 w 6237794"/>
                <a:gd name="connsiteY19" fmla="*/ 6007280 h 6858000"/>
                <a:gd name="connsiteX20" fmla="*/ 2866455 w 6237794"/>
                <a:gd name="connsiteY20" fmla="*/ 6351505 h 6858000"/>
                <a:gd name="connsiteX21" fmla="*/ 3200661 w 6237794"/>
                <a:gd name="connsiteY21" fmla="*/ 6448777 h 6858000"/>
                <a:gd name="connsiteX22" fmla="*/ 3286318 w 6237794"/>
                <a:gd name="connsiteY22" fmla="*/ 6465908 h 6858000"/>
                <a:gd name="connsiteX23" fmla="*/ 3372701 w 6237794"/>
                <a:gd name="connsiteY23" fmla="*/ 6480281 h 6858000"/>
                <a:gd name="connsiteX24" fmla="*/ 3547063 w 6237794"/>
                <a:gd name="connsiteY24" fmla="*/ 6500896 h 6858000"/>
                <a:gd name="connsiteX25" fmla="*/ 3634753 w 6237794"/>
                <a:gd name="connsiteY25" fmla="*/ 6507575 h 6858000"/>
                <a:gd name="connsiteX26" fmla="*/ 3722733 w 6237794"/>
                <a:gd name="connsiteY26" fmla="*/ 6512221 h 6858000"/>
                <a:gd name="connsiteX27" fmla="*/ 3811003 w 6237794"/>
                <a:gd name="connsiteY27" fmla="*/ 6514253 h 6858000"/>
                <a:gd name="connsiteX28" fmla="*/ 3899418 w 6237794"/>
                <a:gd name="connsiteY28" fmla="*/ 6513817 h 6858000"/>
                <a:gd name="connsiteX29" fmla="*/ 3943698 w 6237794"/>
                <a:gd name="connsiteY29" fmla="*/ 6513381 h 6858000"/>
                <a:gd name="connsiteX30" fmla="*/ 3986381 w 6237794"/>
                <a:gd name="connsiteY30" fmla="*/ 6511495 h 6858000"/>
                <a:gd name="connsiteX31" fmla="*/ 4028919 w 6237794"/>
                <a:gd name="connsiteY31" fmla="*/ 6509317 h 6858000"/>
                <a:gd name="connsiteX32" fmla="*/ 4071312 w 6237794"/>
                <a:gd name="connsiteY32" fmla="*/ 6505833 h 6858000"/>
                <a:gd name="connsiteX33" fmla="*/ 4239432 w 6237794"/>
                <a:gd name="connsiteY33" fmla="*/ 6485072 h 6858000"/>
                <a:gd name="connsiteX34" fmla="*/ 4879826 w 6237794"/>
                <a:gd name="connsiteY34" fmla="*/ 6274849 h 6858000"/>
                <a:gd name="connsiteX35" fmla="*/ 5471439 w 6237794"/>
                <a:gd name="connsiteY35" fmla="*/ 5906235 h 6858000"/>
                <a:gd name="connsiteX36" fmla="*/ 5614877 w 6237794"/>
                <a:gd name="connsiteY36" fmla="*/ 5797930 h 6858000"/>
                <a:gd name="connsiteX37" fmla="*/ 5758316 w 6237794"/>
                <a:gd name="connsiteY37" fmla="*/ 5685995 h 6858000"/>
                <a:gd name="connsiteX38" fmla="*/ 6048824 w 6237794"/>
                <a:gd name="connsiteY38" fmla="*/ 5453705 h 6858000"/>
                <a:gd name="connsiteX39" fmla="*/ 6237794 w 6237794"/>
                <a:gd name="connsiteY39" fmla="*/ 5308644 h 6858000"/>
                <a:gd name="connsiteX40" fmla="*/ 6237794 w 6237794"/>
                <a:gd name="connsiteY40" fmla="*/ 6081399 h 6858000"/>
                <a:gd name="connsiteX41" fmla="*/ 6123011 w 6237794"/>
                <a:gd name="connsiteY41" fmla="*/ 6166399 h 6858000"/>
                <a:gd name="connsiteX42" fmla="*/ 5965925 w 6237794"/>
                <a:gd name="connsiteY42" fmla="*/ 6278479 h 6858000"/>
                <a:gd name="connsiteX43" fmla="*/ 5803903 w 6237794"/>
                <a:gd name="connsiteY43" fmla="*/ 6387364 h 6858000"/>
                <a:gd name="connsiteX44" fmla="*/ 5463744 w 6237794"/>
                <a:gd name="connsiteY44" fmla="*/ 6591780 h 6858000"/>
                <a:gd name="connsiteX45" fmla="*/ 5097888 w 6237794"/>
                <a:gd name="connsiteY45" fmla="*/ 6765562 h 6858000"/>
                <a:gd name="connsiteX46" fmla="*/ 4905602 w 6237794"/>
                <a:gd name="connsiteY46" fmla="*/ 6836446 h 6858000"/>
                <a:gd name="connsiteX47" fmla="*/ 4831447 w 6237794"/>
                <a:gd name="connsiteY47" fmla="*/ 6858000 h 6858000"/>
                <a:gd name="connsiteX48" fmla="*/ 3036485 w 6237794"/>
                <a:gd name="connsiteY48" fmla="*/ 6858000 h 6858000"/>
                <a:gd name="connsiteX49" fmla="*/ 2911533 w 6237794"/>
                <a:gd name="connsiteY49" fmla="*/ 6825558 h 6858000"/>
                <a:gd name="connsiteX50" fmla="*/ 2719386 w 6237794"/>
                <a:gd name="connsiteY50" fmla="*/ 6767158 h 6858000"/>
                <a:gd name="connsiteX51" fmla="*/ 1980415 w 6237794"/>
                <a:gd name="connsiteY51" fmla="*/ 6440210 h 6858000"/>
                <a:gd name="connsiteX52" fmla="*/ 1357588 w 6237794"/>
                <a:gd name="connsiteY52" fmla="*/ 5931206 h 6858000"/>
                <a:gd name="connsiteX53" fmla="*/ 1105118 w 6237794"/>
                <a:gd name="connsiteY53" fmla="*/ 5624874 h 6858000"/>
                <a:gd name="connsiteX54" fmla="*/ 884588 w 6237794"/>
                <a:gd name="connsiteY54" fmla="*/ 5300539 h 6858000"/>
                <a:gd name="connsiteX55" fmla="*/ 833049 w 6237794"/>
                <a:gd name="connsiteY55" fmla="*/ 5217931 h 6858000"/>
                <a:gd name="connsiteX56" fmla="*/ 783833 w 6237794"/>
                <a:gd name="connsiteY56" fmla="*/ 5137791 h 6858000"/>
                <a:gd name="connsiteX57" fmla="*/ 686706 w 6237794"/>
                <a:gd name="connsiteY57" fmla="*/ 4982447 h 6858000"/>
                <a:gd name="connsiteX58" fmla="*/ 485485 w 6237794"/>
                <a:gd name="connsiteY58" fmla="*/ 4665082 h 6858000"/>
                <a:gd name="connsiteX59" fmla="*/ 289055 w 6237794"/>
                <a:gd name="connsiteY59" fmla="*/ 4329568 h 6858000"/>
                <a:gd name="connsiteX60" fmla="*/ 200495 w 6237794"/>
                <a:gd name="connsiteY60" fmla="*/ 4151721 h 6858000"/>
                <a:gd name="connsiteX61" fmla="*/ 125291 w 6237794"/>
                <a:gd name="connsiteY61" fmla="*/ 3965600 h 6858000"/>
                <a:gd name="connsiteX62" fmla="*/ 67654 w 6237794"/>
                <a:gd name="connsiteY62" fmla="*/ 3772509 h 6858000"/>
                <a:gd name="connsiteX63" fmla="*/ 46168 w 6237794"/>
                <a:gd name="connsiteY63" fmla="*/ 3674076 h 6858000"/>
                <a:gd name="connsiteX64" fmla="*/ 36731 w 6237794"/>
                <a:gd name="connsiteY64" fmla="*/ 3624714 h 6858000"/>
                <a:gd name="connsiteX65" fmla="*/ 28891 w 6237794"/>
                <a:gd name="connsiteY65" fmla="*/ 3575208 h 6858000"/>
                <a:gd name="connsiteX66" fmla="*/ 0 w 6237794"/>
                <a:gd name="connsiteY66" fmla="*/ 3178573 h 6858000"/>
                <a:gd name="connsiteX67" fmla="*/ 80575 w 6237794"/>
                <a:gd name="connsiteY67" fmla="*/ 2405774 h 6858000"/>
                <a:gd name="connsiteX68" fmla="*/ 322737 w 6237794"/>
                <a:gd name="connsiteY68" fmla="*/ 1665351 h 6858000"/>
                <a:gd name="connsiteX69" fmla="*/ 1230700 w 6237794"/>
                <a:gd name="connsiteY69" fmla="*/ 407938 h 6858000"/>
                <a:gd name="connsiteX70" fmla="*/ 1521825 w 6237794"/>
                <a:gd name="connsiteY70" fmla="*/ 14944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237794" h="6858000">
                  <a:moveTo>
                    <a:pt x="1720317" y="0"/>
                  </a:moveTo>
                  <a:lnTo>
                    <a:pt x="2433560" y="0"/>
                  </a:lnTo>
                  <a:lnTo>
                    <a:pt x="2351473" y="41605"/>
                  </a:lnTo>
                  <a:cubicBezTo>
                    <a:pt x="2036528" y="216271"/>
                    <a:pt x="1740794" y="426339"/>
                    <a:pt x="1473152" y="667521"/>
                  </a:cubicBezTo>
                  <a:cubicBezTo>
                    <a:pt x="1295305" y="828818"/>
                    <a:pt x="1130525" y="1004777"/>
                    <a:pt x="982876" y="1193803"/>
                  </a:cubicBezTo>
                  <a:cubicBezTo>
                    <a:pt x="834936" y="1382538"/>
                    <a:pt x="704418" y="1584921"/>
                    <a:pt x="595242" y="1798192"/>
                  </a:cubicBezTo>
                  <a:cubicBezTo>
                    <a:pt x="486066" y="2011317"/>
                    <a:pt x="395183" y="2234461"/>
                    <a:pt x="332174" y="2466315"/>
                  </a:cubicBezTo>
                  <a:cubicBezTo>
                    <a:pt x="269166" y="2697588"/>
                    <a:pt x="236355" y="2938008"/>
                    <a:pt x="236500" y="3178573"/>
                  </a:cubicBezTo>
                  <a:cubicBezTo>
                    <a:pt x="237807" y="3296751"/>
                    <a:pt x="249421" y="3414057"/>
                    <a:pt x="276860" y="3527298"/>
                  </a:cubicBezTo>
                  <a:cubicBezTo>
                    <a:pt x="303864" y="3640684"/>
                    <a:pt x="345821" y="3749135"/>
                    <a:pt x="396054" y="3853520"/>
                  </a:cubicBezTo>
                  <a:cubicBezTo>
                    <a:pt x="421461" y="3905640"/>
                    <a:pt x="449626" y="3956743"/>
                    <a:pt x="479243" y="4007121"/>
                  </a:cubicBezTo>
                  <a:cubicBezTo>
                    <a:pt x="509295" y="4057354"/>
                    <a:pt x="541380" y="4106861"/>
                    <a:pt x="574772" y="4155787"/>
                  </a:cubicBezTo>
                  <a:cubicBezTo>
                    <a:pt x="642426" y="4253348"/>
                    <a:pt x="717630" y="4348007"/>
                    <a:pt x="795447" y="4443100"/>
                  </a:cubicBezTo>
                  <a:cubicBezTo>
                    <a:pt x="873264" y="4538339"/>
                    <a:pt x="954565" y="4633577"/>
                    <a:pt x="1034270" y="4732591"/>
                  </a:cubicBezTo>
                  <a:cubicBezTo>
                    <a:pt x="1074195" y="4781952"/>
                    <a:pt x="1113684" y="4832476"/>
                    <a:pt x="1153028" y="4883725"/>
                  </a:cubicBezTo>
                  <a:lnTo>
                    <a:pt x="1210084" y="4957912"/>
                  </a:lnTo>
                  <a:cubicBezTo>
                    <a:pt x="1228813" y="4981576"/>
                    <a:pt x="1246670" y="5005822"/>
                    <a:pt x="1265979" y="5028906"/>
                  </a:cubicBezTo>
                  <a:cubicBezTo>
                    <a:pt x="1416677" y="5216770"/>
                    <a:pt x="1580151" y="5389681"/>
                    <a:pt x="1746238" y="5553590"/>
                  </a:cubicBezTo>
                  <a:cubicBezTo>
                    <a:pt x="1829717" y="5635182"/>
                    <a:pt x="1914648" y="5714015"/>
                    <a:pt x="2001611" y="5789654"/>
                  </a:cubicBezTo>
                  <a:cubicBezTo>
                    <a:pt x="2088575" y="5865293"/>
                    <a:pt x="2177135" y="5938465"/>
                    <a:pt x="2269035" y="6007280"/>
                  </a:cubicBezTo>
                  <a:cubicBezTo>
                    <a:pt x="2452108" y="6145202"/>
                    <a:pt x="2649554" y="6268461"/>
                    <a:pt x="2866455" y="6351505"/>
                  </a:cubicBezTo>
                  <a:cubicBezTo>
                    <a:pt x="2974615" y="6393027"/>
                    <a:pt x="3086694" y="6424821"/>
                    <a:pt x="3200661" y="6448777"/>
                  </a:cubicBezTo>
                  <a:cubicBezTo>
                    <a:pt x="3229262" y="6454438"/>
                    <a:pt x="3257572" y="6460971"/>
                    <a:pt x="3286318" y="6465908"/>
                  </a:cubicBezTo>
                  <a:lnTo>
                    <a:pt x="3372701" y="6480281"/>
                  </a:lnTo>
                  <a:cubicBezTo>
                    <a:pt x="3430628" y="6487975"/>
                    <a:pt x="3488556" y="6496106"/>
                    <a:pt x="3547063" y="6500896"/>
                  </a:cubicBezTo>
                  <a:cubicBezTo>
                    <a:pt x="3576245" y="6503654"/>
                    <a:pt x="3605426" y="6506268"/>
                    <a:pt x="3634753" y="6507575"/>
                  </a:cubicBezTo>
                  <a:cubicBezTo>
                    <a:pt x="3664079" y="6509026"/>
                    <a:pt x="3693261" y="6511350"/>
                    <a:pt x="3722733" y="6512221"/>
                  </a:cubicBezTo>
                  <a:lnTo>
                    <a:pt x="3811003" y="6514253"/>
                  </a:lnTo>
                  <a:cubicBezTo>
                    <a:pt x="3840329" y="6514979"/>
                    <a:pt x="3869946" y="6513963"/>
                    <a:pt x="3899418" y="6513817"/>
                  </a:cubicBezTo>
                  <a:lnTo>
                    <a:pt x="3943698" y="6513381"/>
                  </a:lnTo>
                  <a:cubicBezTo>
                    <a:pt x="3958071" y="6512946"/>
                    <a:pt x="3972154" y="6512075"/>
                    <a:pt x="3986381" y="6511495"/>
                  </a:cubicBezTo>
                  <a:cubicBezTo>
                    <a:pt x="4000609" y="6510768"/>
                    <a:pt x="4014837" y="6510333"/>
                    <a:pt x="4028919" y="6509317"/>
                  </a:cubicBezTo>
                  <a:lnTo>
                    <a:pt x="4071312" y="6505833"/>
                  </a:lnTo>
                  <a:cubicBezTo>
                    <a:pt x="4127788" y="6501332"/>
                    <a:pt x="4183828" y="6493782"/>
                    <a:pt x="4239432" y="6485072"/>
                  </a:cubicBezTo>
                  <a:cubicBezTo>
                    <a:pt x="4461994" y="6448195"/>
                    <a:pt x="4675992" y="6376041"/>
                    <a:pt x="4879826" y="6274849"/>
                  </a:cubicBezTo>
                  <a:cubicBezTo>
                    <a:pt x="5084386" y="6174820"/>
                    <a:pt x="5279074" y="6046770"/>
                    <a:pt x="5471439" y="5906235"/>
                  </a:cubicBezTo>
                  <a:cubicBezTo>
                    <a:pt x="5519494" y="5871246"/>
                    <a:pt x="5567258" y="5834806"/>
                    <a:pt x="5614877" y="5797930"/>
                  </a:cubicBezTo>
                  <a:cubicBezTo>
                    <a:pt x="5662787" y="5761199"/>
                    <a:pt x="5710551" y="5723887"/>
                    <a:pt x="5758316" y="5685995"/>
                  </a:cubicBezTo>
                  <a:lnTo>
                    <a:pt x="6048824" y="5453705"/>
                  </a:lnTo>
                  <a:lnTo>
                    <a:pt x="6237794" y="5308644"/>
                  </a:lnTo>
                  <a:lnTo>
                    <a:pt x="6237794" y="6081399"/>
                  </a:lnTo>
                  <a:lnTo>
                    <a:pt x="6123011" y="6166399"/>
                  </a:lnTo>
                  <a:cubicBezTo>
                    <a:pt x="6071326" y="6204001"/>
                    <a:pt x="6019061" y="6241458"/>
                    <a:pt x="5965925" y="6278479"/>
                  </a:cubicBezTo>
                  <a:cubicBezTo>
                    <a:pt x="5912644" y="6315210"/>
                    <a:pt x="5858927" y="6351650"/>
                    <a:pt x="5803903" y="6387364"/>
                  </a:cubicBezTo>
                  <a:cubicBezTo>
                    <a:pt x="5694437" y="6458938"/>
                    <a:pt x="5581486" y="6528335"/>
                    <a:pt x="5463744" y="6591780"/>
                  </a:cubicBezTo>
                  <a:cubicBezTo>
                    <a:pt x="5346147" y="6655514"/>
                    <a:pt x="5224486" y="6714748"/>
                    <a:pt x="5097888" y="6765562"/>
                  </a:cubicBezTo>
                  <a:cubicBezTo>
                    <a:pt x="5034879" y="6791332"/>
                    <a:pt x="4970700" y="6815005"/>
                    <a:pt x="4905602" y="6836446"/>
                  </a:cubicBezTo>
                  <a:lnTo>
                    <a:pt x="4831447" y="6858000"/>
                  </a:lnTo>
                  <a:lnTo>
                    <a:pt x="3036485" y="6858000"/>
                  </a:lnTo>
                  <a:lnTo>
                    <a:pt x="2911533" y="6825558"/>
                  </a:lnTo>
                  <a:cubicBezTo>
                    <a:pt x="2847182" y="6807410"/>
                    <a:pt x="2783121" y="6787919"/>
                    <a:pt x="2719386" y="6767158"/>
                  </a:cubicBezTo>
                  <a:cubicBezTo>
                    <a:pt x="2464884" y="6683389"/>
                    <a:pt x="2213285" y="6579149"/>
                    <a:pt x="1980415" y="6440210"/>
                  </a:cubicBezTo>
                  <a:cubicBezTo>
                    <a:pt x="1747399" y="6301563"/>
                    <a:pt x="1539355" y="6125749"/>
                    <a:pt x="1357588" y="5931206"/>
                  </a:cubicBezTo>
                  <a:cubicBezTo>
                    <a:pt x="1266269" y="5834080"/>
                    <a:pt x="1183226" y="5730711"/>
                    <a:pt x="1105118" y="5624874"/>
                  </a:cubicBezTo>
                  <a:cubicBezTo>
                    <a:pt x="1027446" y="5518601"/>
                    <a:pt x="953549" y="5410732"/>
                    <a:pt x="884588" y="5300539"/>
                  </a:cubicBezTo>
                  <a:cubicBezTo>
                    <a:pt x="866876" y="5273245"/>
                    <a:pt x="850180" y="5245516"/>
                    <a:pt x="833049" y="5217931"/>
                  </a:cubicBezTo>
                  <a:lnTo>
                    <a:pt x="783833" y="5137791"/>
                  </a:lnTo>
                  <a:cubicBezTo>
                    <a:pt x="752328" y="5085962"/>
                    <a:pt x="719662" y="5034567"/>
                    <a:pt x="686706" y="4982447"/>
                  </a:cubicBezTo>
                  <a:lnTo>
                    <a:pt x="485485" y="4665082"/>
                  </a:lnTo>
                  <a:cubicBezTo>
                    <a:pt x="417976" y="4556922"/>
                    <a:pt x="351338" y="4445568"/>
                    <a:pt x="289055" y="4329568"/>
                  </a:cubicBezTo>
                  <a:cubicBezTo>
                    <a:pt x="257987" y="4271496"/>
                    <a:pt x="227934" y="4212408"/>
                    <a:pt x="200495" y="4151721"/>
                  </a:cubicBezTo>
                  <a:cubicBezTo>
                    <a:pt x="173201" y="4090891"/>
                    <a:pt x="147794" y="4028898"/>
                    <a:pt x="125291" y="3965600"/>
                  </a:cubicBezTo>
                  <a:cubicBezTo>
                    <a:pt x="103224" y="3902155"/>
                    <a:pt x="83624" y="3837840"/>
                    <a:pt x="67654" y="3772509"/>
                  </a:cubicBezTo>
                  <a:cubicBezTo>
                    <a:pt x="60105" y="3739843"/>
                    <a:pt x="52410" y="3707032"/>
                    <a:pt x="46168" y="3674076"/>
                  </a:cubicBezTo>
                  <a:lnTo>
                    <a:pt x="36731" y="3624714"/>
                  </a:lnTo>
                  <a:lnTo>
                    <a:pt x="28891" y="3575208"/>
                  </a:lnTo>
                  <a:cubicBezTo>
                    <a:pt x="8566" y="3442948"/>
                    <a:pt x="0" y="3310252"/>
                    <a:pt x="0" y="3178573"/>
                  </a:cubicBezTo>
                  <a:cubicBezTo>
                    <a:pt x="726" y="2919425"/>
                    <a:pt x="27730" y="2660277"/>
                    <a:pt x="80575" y="2405774"/>
                  </a:cubicBezTo>
                  <a:cubicBezTo>
                    <a:pt x="133276" y="2151417"/>
                    <a:pt x="213997" y="1901996"/>
                    <a:pt x="322737" y="1665351"/>
                  </a:cubicBezTo>
                  <a:cubicBezTo>
                    <a:pt x="541235" y="1192061"/>
                    <a:pt x="857875" y="768568"/>
                    <a:pt x="1230700" y="407938"/>
                  </a:cubicBezTo>
                  <a:cubicBezTo>
                    <a:pt x="1324124" y="317781"/>
                    <a:pt x="1421323" y="231579"/>
                    <a:pt x="1521825" y="14944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3" name="Freeform: Shape 7182">
              <a:extLst>
                <a:ext uri="{FF2B5EF4-FFF2-40B4-BE49-F238E27FC236}">
                  <a16:creationId xmlns:a16="http://schemas.microsoft.com/office/drawing/2014/main" id="{13BFB38F-216C-4A75-8C1C-DAF998A5C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634917 w 6230407"/>
                <a:gd name="connsiteY0" fmla="*/ 0 h 6858000"/>
                <a:gd name="connsiteX1" fmla="*/ 6230407 w 6230407"/>
                <a:gd name="connsiteY1" fmla="*/ 0 h 6858000"/>
                <a:gd name="connsiteX2" fmla="*/ 6230407 w 6230407"/>
                <a:gd name="connsiteY2" fmla="*/ 322046 h 6858000"/>
                <a:gd name="connsiteX3" fmla="*/ 6061915 w 6230407"/>
                <a:gd name="connsiteY3" fmla="*/ 206288 h 6858000"/>
                <a:gd name="connsiteX4" fmla="*/ 5814792 w 6230407"/>
                <a:gd name="connsiteY4" fmla="*/ 74312 h 6858000"/>
                <a:gd name="connsiteX5" fmla="*/ 5676576 w 6230407"/>
                <a:gd name="connsiteY5" fmla="*/ 15049 h 6858000"/>
                <a:gd name="connsiteX6" fmla="*/ 1821847 w 6230407"/>
                <a:gd name="connsiteY6" fmla="*/ 0 h 6858000"/>
                <a:gd name="connsiteX7" fmla="*/ 3449591 w 6230407"/>
                <a:gd name="connsiteY7" fmla="*/ 0 h 6858000"/>
                <a:gd name="connsiteX8" fmla="*/ 3354111 w 6230407"/>
                <a:gd name="connsiteY8" fmla="*/ 29819 h 6858000"/>
                <a:gd name="connsiteX9" fmla="*/ 3177287 w 6230407"/>
                <a:gd name="connsiteY9" fmla="*/ 93621 h 6858000"/>
                <a:gd name="connsiteX10" fmla="*/ 1915374 w 6230407"/>
                <a:gd name="connsiteY10" fmla="*/ 844207 h 6858000"/>
                <a:gd name="connsiteX11" fmla="*/ 1042545 w 6230407"/>
                <a:gd name="connsiteY11" fmla="*/ 1926532 h 6858000"/>
                <a:gd name="connsiteX12" fmla="*/ 726050 w 6230407"/>
                <a:gd name="connsiteY12" fmla="*/ 3186123 h 6858000"/>
                <a:gd name="connsiteX13" fmla="*/ 1249864 w 6230407"/>
                <a:gd name="connsiteY13" fmla="*/ 4355701 h 6858000"/>
                <a:gd name="connsiteX14" fmla="*/ 1513803 w 6230407"/>
                <a:gd name="connsiteY14" fmla="*/ 4726929 h 6858000"/>
                <a:gd name="connsiteX15" fmla="*/ 3990446 w 6230407"/>
                <a:gd name="connsiteY15" fmla="*/ 6178014 h 6858000"/>
                <a:gd name="connsiteX16" fmla="*/ 5870541 w 6230407"/>
                <a:gd name="connsiteY16" fmla="*/ 5285296 h 6858000"/>
                <a:gd name="connsiteX17" fmla="*/ 6099347 w 6230407"/>
                <a:gd name="connsiteY17" fmla="*/ 5108030 h 6858000"/>
                <a:gd name="connsiteX18" fmla="*/ 6230407 w 6230407"/>
                <a:gd name="connsiteY18" fmla="*/ 5006078 h 6858000"/>
                <a:gd name="connsiteX19" fmla="*/ 6230407 w 6230407"/>
                <a:gd name="connsiteY19" fmla="*/ 5924458 h 6858000"/>
                <a:gd name="connsiteX20" fmla="*/ 6056186 w 6230407"/>
                <a:gd name="connsiteY20" fmla="*/ 6058925 h 6858000"/>
                <a:gd name="connsiteX21" fmla="*/ 4500343 w 6230407"/>
                <a:gd name="connsiteY21" fmla="*/ 6854086 h 6858000"/>
                <a:gd name="connsiteX22" fmla="*/ 4476760 w 6230407"/>
                <a:gd name="connsiteY22" fmla="*/ 6858000 h 6858000"/>
                <a:gd name="connsiteX23" fmla="*/ 3391617 w 6230407"/>
                <a:gd name="connsiteY23" fmla="*/ 6858000 h 6858000"/>
                <a:gd name="connsiteX24" fmla="*/ 3242986 w 6230407"/>
                <a:gd name="connsiteY24" fmla="*/ 6833894 h 6858000"/>
                <a:gd name="connsiteX25" fmla="*/ 913044 w 6230407"/>
                <a:gd name="connsiteY25" fmla="*/ 5134452 h 6858000"/>
                <a:gd name="connsiteX26" fmla="*/ 0 w 6230407"/>
                <a:gd name="connsiteY26" fmla="*/ 3186123 h 6858000"/>
                <a:gd name="connsiteX27" fmla="*/ 1779764 w 6230407"/>
                <a:gd name="connsiteY27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230407" h="6858000">
                  <a:moveTo>
                    <a:pt x="5634917" y="0"/>
                  </a:moveTo>
                  <a:lnTo>
                    <a:pt x="6230407" y="0"/>
                  </a:lnTo>
                  <a:lnTo>
                    <a:pt x="6230407" y="322046"/>
                  </a:lnTo>
                  <a:lnTo>
                    <a:pt x="6061915" y="206288"/>
                  </a:lnTo>
                  <a:cubicBezTo>
                    <a:pt x="5982213" y="157828"/>
                    <a:pt x="5899796" y="113801"/>
                    <a:pt x="5814792" y="74312"/>
                  </a:cubicBezTo>
                  <a:cubicBezTo>
                    <a:pt x="5769441" y="53261"/>
                    <a:pt x="5723362" y="33505"/>
                    <a:pt x="5676576" y="15049"/>
                  </a:cubicBezTo>
                  <a:close/>
                  <a:moveTo>
                    <a:pt x="1821847" y="0"/>
                  </a:moveTo>
                  <a:lnTo>
                    <a:pt x="3449591" y="0"/>
                  </a:lnTo>
                  <a:lnTo>
                    <a:pt x="3354111" y="29819"/>
                  </a:lnTo>
                  <a:cubicBezTo>
                    <a:pt x="3295072" y="49686"/>
                    <a:pt x="3236122" y="70955"/>
                    <a:pt x="3177287" y="93621"/>
                  </a:cubicBezTo>
                  <a:cubicBezTo>
                    <a:pt x="2718951" y="269871"/>
                    <a:pt x="2282682" y="529455"/>
                    <a:pt x="1915374" y="844207"/>
                  </a:cubicBezTo>
                  <a:cubicBezTo>
                    <a:pt x="1541678" y="1164331"/>
                    <a:pt x="1247976" y="1528591"/>
                    <a:pt x="1042545" y="1926532"/>
                  </a:cubicBezTo>
                  <a:cubicBezTo>
                    <a:pt x="832613" y="2333329"/>
                    <a:pt x="726050" y="2757113"/>
                    <a:pt x="726050" y="3186123"/>
                  </a:cubicBezTo>
                  <a:cubicBezTo>
                    <a:pt x="726050" y="3618181"/>
                    <a:pt x="896057" y="3870506"/>
                    <a:pt x="1249864" y="4355701"/>
                  </a:cubicBezTo>
                  <a:cubicBezTo>
                    <a:pt x="1335230" y="4472717"/>
                    <a:pt x="1423500" y="4593798"/>
                    <a:pt x="1513803" y="4726929"/>
                  </a:cubicBezTo>
                  <a:cubicBezTo>
                    <a:pt x="2203848" y="5744068"/>
                    <a:pt x="2944562" y="6178014"/>
                    <a:pt x="3990446" y="6178014"/>
                  </a:cubicBezTo>
                  <a:cubicBezTo>
                    <a:pt x="4676863" y="6178014"/>
                    <a:pt x="5180496" y="5824498"/>
                    <a:pt x="5870541" y="5285296"/>
                  </a:cubicBezTo>
                  <a:cubicBezTo>
                    <a:pt x="5947632" y="5225046"/>
                    <a:pt x="6024723" y="5165521"/>
                    <a:pt x="6099347" y="5108030"/>
                  </a:cubicBezTo>
                  <a:lnTo>
                    <a:pt x="6230407" y="5006078"/>
                  </a:lnTo>
                  <a:lnTo>
                    <a:pt x="6230407" y="5924458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4" name="Freeform: Shape 7183">
              <a:extLst>
                <a:ext uri="{FF2B5EF4-FFF2-40B4-BE49-F238E27FC236}">
                  <a16:creationId xmlns:a16="http://schemas.microsoft.com/office/drawing/2014/main" id="{4DF24F7D-73CE-4EF0-86BC-1C1C4C5CB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061392 w 6230408"/>
                <a:gd name="connsiteY0" fmla="*/ 0 h 6858000"/>
                <a:gd name="connsiteX1" fmla="*/ 6230408 w 6230408"/>
                <a:gd name="connsiteY1" fmla="*/ 0 h 6858000"/>
                <a:gd name="connsiteX2" fmla="*/ 6230408 w 6230408"/>
                <a:gd name="connsiteY2" fmla="*/ 502666 h 6858000"/>
                <a:gd name="connsiteX3" fmla="*/ 6204367 w 6230408"/>
                <a:gd name="connsiteY3" fmla="*/ 480166 h 6858000"/>
                <a:gd name="connsiteX4" fmla="*/ 5753525 w 6230408"/>
                <a:gd name="connsiteY4" fmla="*/ 205991 h 6858000"/>
                <a:gd name="connsiteX5" fmla="*/ 5205685 w 6230408"/>
                <a:gd name="connsiteY5" fmla="*/ 25948 h 6858000"/>
                <a:gd name="connsiteX6" fmla="*/ 1821847 w 6230408"/>
                <a:gd name="connsiteY6" fmla="*/ 0 h 6858000"/>
                <a:gd name="connsiteX7" fmla="*/ 4114919 w 6230408"/>
                <a:gd name="connsiteY7" fmla="*/ 0 h 6858000"/>
                <a:gd name="connsiteX8" fmla="*/ 4086206 w 6230408"/>
                <a:gd name="connsiteY8" fmla="*/ 3507 h 6858000"/>
                <a:gd name="connsiteX9" fmla="*/ 3229262 w 6230408"/>
                <a:gd name="connsiteY9" fmla="*/ 229075 h 6858000"/>
                <a:gd name="connsiteX10" fmla="*/ 2009741 w 6230408"/>
                <a:gd name="connsiteY10" fmla="*/ 954400 h 6858000"/>
                <a:gd name="connsiteX11" fmla="*/ 1171466 w 6230408"/>
                <a:gd name="connsiteY11" fmla="*/ 1993025 h 6858000"/>
                <a:gd name="connsiteX12" fmla="*/ 871086 w 6230408"/>
                <a:gd name="connsiteY12" fmla="*/ 3186123 h 6858000"/>
                <a:gd name="connsiteX13" fmla="*/ 1367025 w 6230408"/>
                <a:gd name="connsiteY13" fmla="*/ 4270190 h 6858000"/>
                <a:gd name="connsiteX14" fmla="*/ 1633868 w 6230408"/>
                <a:gd name="connsiteY14" fmla="*/ 4645483 h 6858000"/>
                <a:gd name="connsiteX15" fmla="*/ 2651877 w 6230408"/>
                <a:gd name="connsiteY15" fmla="*/ 5684689 h 6858000"/>
                <a:gd name="connsiteX16" fmla="*/ 3990301 w 6230408"/>
                <a:gd name="connsiteY16" fmla="*/ 6032833 h 6858000"/>
                <a:gd name="connsiteX17" fmla="*/ 4851225 w 6230408"/>
                <a:gd name="connsiteY17" fmla="*/ 5811141 h 6858000"/>
                <a:gd name="connsiteX18" fmla="*/ 5780965 w 6230408"/>
                <a:gd name="connsiteY18" fmla="*/ 5171038 h 6858000"/>
                <a:gd name="connsiteX19" fmla="*/ 6010496 w 6230408"/>
                <a:gd name="connsiteY19" fmla="*/ 4993191 h 6858000"/>
                <a:gd name="connsiteX20" fmla="*/ 6230408 w 6230408"/>
                <a:gd name="connsiteY20" fmla="*/ 4822117 h 6858000"/>
                <a:gd name="connsiteX21" fmla="*/ 6230408 w 6230408"/>
                <a:gd name="connsiteY21" fmla="*/ 5924457 h 6858000"/>
                <a:gd name="connsiteX22" fmla="*/ 6056186 w 6230408"/>
                <a:gd name="connsiteY22" fmla="*/ 6058925 h 6858000"/>
                <a:gd name="connsiteX23" fmla="*/ 4500343 w 6230408"/>
                <a:gd name="connsiteY23" fmla="*/ 6854086 h 6858000"/>
                <a:gd name="connsiteX24" fmla="*/ 4476760 w 6230408"/>
                <a:gd name="connsiteY24" fmla="*/ 6858000 h 6858000"/>
                <a:gd name="connsiteX25" fmla="*/ 3391617 w 6230408"/>
                <a:gd name="connsiteY25" fmla="*/ 6858000 h 6858000"/>
                <a:gd name="connsiteX26" fmla="*/ 3242986 w 6230408"/>
                <a:gd name="connsiteY26" fmla="*/ 6833894 h 6858000"/>
                <a:gd name="connsiteX27" fmla="*/ 913044 w 6230408"/>
                <a:gd name="connsiteY27" fmla="*/ 5134452 h 6858000"/>
                <a:gd name="connsiteX28" fmla="*/ 0 w 6230408"/>
                <a:gd name="connsiteY28" fmla="*/ 3186123 h 6858000"/>
                <a:gd name="connsiteX29" fmla="*/ 1779764 w 6230408"/>
                <a:gd name="connsiteY29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230408" h="6858000">
                  <a:moveTo>
                    <a:pt x="5061392" y="0"/>
                  </a:moveTo>
                  <a:lnTo>
                    <a:pt x="6230408" y="0"/>
                  </a:lnTo>
                  <a:lnTo>
                    <a:pt x="6230408" y="502666"/>
                  </a:lnTo>
                  <a:lnTo>
                    <a:pt x="6204367" y="480166"/>
                  </a:lnTo>
                  <a:cubicBezTo>
                    <a:pt x="6064466" y="372115"/>
                    <a:pt x="5913877" y="280469"/>
                    <a:pt x="5753525" y="205991"/>
                  </a:cubicBezTo>
                  <a:cubicBezTo>
                    <a:pt x="5581848" y="126214"/>
                    <a:pt x="5398775" y="66109"/>
                    <a:pt x="5205685" y="25948"/>
                  </a:cubicBezTo>
                  <a:close/>
                  <a:moveTo>
                    <a:pt x="1821847" y="0"/>
                  </a:moveTo>
                  <a:lnTo>
                    <a:pt x="4114919" y="0"/>
                  </a:lnTo>
                  <a:lnTo>
                    <a:pt x="4086206" y="3507"/>
                  </a:lnTo>
                  <a:cubicBezTo>
                    <a:pt x="3798985" y="45364"/>
                    <a:pt x="3509190" y="121369"/>
                    <a:pt x="3229262" y="229075"/>
                  </a:cubicBezTo>
                  <a:cubicBezTo>
                    <a:pt x="2786315" y="399518"/>
                    <a:pt x="2364564" y="650390"/>
                    <a:pt x="2009741" y="954400"/>
                  </a:cubicBezTo>
                  <a:cubicBezTo>
                    <a:pt x="1655354" y="1257973"/>
                    <a:pt x="1365573" y="1617151"/>
                    <a:pt x="1171466" y="1993025"/>
                  </a:cubicBezTo>
                  <a:cubicBezTo>
                    <a:pt x="972132" y="2379061"/>
                    <a:pt x="871086" y="2780487"/>
                    <a:pt x="871086" y="3186123"/>
                  </a:cubicBezTo>
                  <a:cubicBezTo>
                    <a:pt x="871086" y="3573756"/>
                    <a:pt x="1023091" y="3798642"/>
                    <a:pt x="1367025" y="4270190"/>
                  </a:cubicBezTo>
                  <a:cubicBezTo>
                    <a:pt x="1453117" y="4388222"/>
                    <a:pt x="1542113" y="4510319"/>
                    <a:pt x="1633868" y="4645483"/>
                  </a:cubicBezTo>
                  <a:cubicBezTo>
                    <a:pt x="1958347" y="5123709"/>
                    <a:pt x="2291248" y="5463723"/>
                    <a:pt x="2651877" y="5684689"/>
                  </a:cubicBezTo>
                  <a:cubicBezTo>
                    <a:pt x="3034139" y="5919011"/>
                    <a:pt x="3472005" y="6032833"/>
                    <a:pt x="3990301" y="6032833"/>
                  </a:cubicBezTo>
                  <a:cubicBezTo>
                    <a:pt x="4284438" y="6032833"/>
                    <a:pt x="4557959" y="5962420"/>
                    <a:pt x="4851225" y="5811141"/>
                  </a:cubicBezTo>
                  <a:cubicBezTo>
                    <a:pt x="5152330" y="5655798"/>
                    <a:pt x="5450387" y="5429315"/>
                    <a:pt x="5780965" y="5171038"/>
                  </a:cubicBezTo>
                  <a:cubicBezTo>
                    <a:pt x="5858491" y="5110498"/>
                    <a:pt x="5935727" y="5050828"/>
                    <a:pt x="6010496" y="4993191"/>
                  </a:cubicBezTo>
                  <a:lnTo>
                    <a:pt x="6230408" y="4822117"/>
                  </a:lnTo>
                  <a:lnTo>
                    <a:pt x="6230408" y="5924457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7185" name="Freeform: Shape 7184">
              <a:extLst>
                <a:ext uri="{FF2B5EF4-FFF2-40B4-BE49-F238E27FC236}">
                  <a16:creationId xmlns:a16="http://schemas.microsoft.com/office/drawing/2014/main" id="{EC3445B6-9C0D-4865-BF68-CD74892D0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05128" y="0"/>
              <a:ext cx="6648564" cy="6858000"/>
            </a:xfrm>
            <a:custGeom>
              <a:avLst/>
              <a:gdLst>
                <a:gd name="connsiteX0" fmla="*/ 1242460 w 6394458"/>
                <a:gd name="connsiteY0" fmla="*/ 0 h 6858000"/>
                <a:gd name="connsiteX1" fmla="*/ 2160732 w 6394458"/>
                <a:gd name="connsiteY1" fmla="*/ 0 h 6858000"/>
                <a:gd name="connsiteX2" fmla="*/ 2096124 w 6394458"/>
                <a:gd name="connsiteY2" fmla="*/ 41936 h 6858000"/>
                <a:gd name="connsiteX3" fmla="*/ 1942232 w 6394458"/>
                <a:gd name="connsiteY3" fmla="*/ 154451 h 6858000"/>
                <a:gd name="connsiteX4" fmla="*/ 1941942 w 6394458"/>
                <a:gd name="connsiteY4" fmla="*/ 154741 h 6858000"/>
                <a:gd name="connsiteX5" fmla="*/ 1941652 w 6394458"/>
                <a:gd name="connsiteY5" fmla="*/ 155032 h 6858000"/>
                <a:gd name="connsiteX6" fmla="*/ 1878498 w 6394458"/>
                <a:gd name="connsiteY6" fmla="*/ 203377 h 6858000"/>
                <a:gd name="connsiteX7" fmla="*/ 1865722 w 6394458"/>
                <a:gd name="connsiteY7" fmla="*/ 213395 h 6858000"/>
                <a:gd name="connsiteX8" fmla="*/ 1791679 w 6394458"/>
                <a:gd name="connsiteY8" fmla="*/ 272483 h 6858000"/>
                <a:gd name="connsiteX9" fmla="*/ 1503495 w 6394458"/>
                <a:gd name="connsiteY9" fmla="*/ 525389 h 6858000"/>
                <a:gd name="connsiteX10" fmla="*/ 990135 w 6394458"/>
                <a:gd name="connsiteY10" fmla="*/ 1098128 h 6858000"/>
                <a:gd name="connsiteX11" fmla="*/ 771637 w 6394458"/>
                <a:gd name="connsiteY11" fmla="*/ 1416800 h 6858000"/>
                <a:gd name="connsiteX12" fmla="*/ 585660 w 6394458"/>
                <a:gd name="connsiteY12" fmla="*/ 1756960 h 6858000"/>
                <a:gd name="connsiteX13" fmla="*/ 585515 w 6394458"/>
                <a:gd name="connsiteY13" fmla="*/ 1757395 h 6858000"/>
                <a:gd name="connsiteX14" fmla="*/ 585370 w 6394458"/>
                <a:gd name="connsiteY14" fmla="*/ 1757831 h 6858000"/>
                <a:gd name="connsiteX15" fmla="*/ 544574 w 6394458"/>
                <a:gd name="connsiteY15" fmla="*/ 1845230 h 6858000"/>
                <a:gd name="connsiteX16" fmla="*/ 524539 w 6394458"/>
                <a:gd name="connsiteY16" fmla="*/ 1889510 h 6858000"/>
                <a:gd name="connsiteX17" fmla="*/ 505666 w 6394458"/>
                <a:gd name="connsiteY17" fmla="*/ 1933935 h 6858000"/>
                <a:gd name="connsiteX18" fmla="*/ 502762 w 6394458"/>
                <a:gd name="connsiteY18" fmla="*/ 1940904 h 6858000"/>
                <a:gd name="connsiteX19" fmla="*/ 469661 w 6394458"/>
                <a:gd name="connsiteY19" fmla="*/ 2023512 h 6858000"/>
                <a:gd name="connsiteX20" fmla="*/ 456885 w 6394458"/>
                <a:gd name="connsiteY20" fmla="*/ 2057049 h 6858000"/>
                <a:gd name="connsiteX21" fmla="*/ 435688 w 6394458"/>
                <a:gd name="connsiteY21" fmla="*/ 2114395 h 6858000"/>
                <a:gd name="connsiteX22" fmla="*/ 435543 w 6394458"/>
                <a:gd name="connsiteY22" fmla="*/ 2114976 h 6858000"/>
                <a:gd name="connsiteX23" fmla="*/ 435253 w 6394458"/>
                <a:gd name="connsiteY23" fmla="*/ 2115557 h 6858000"/>
                <a:gd name="connsiteX24" fmla="*/ 324770 w 6394458"/>
                <a:gd name="connsiteY24" fmla="*/ 2488382 h 6858000"/>
                <a:gd name="connsiteX25" fmla="*/ 235338 w 6394458"/>
                <a:gd name="connsiteY25" fmla="*/ 3261036 h 6858000"/>
                <a:gd name="connsiteX26" fmla="*/ 272505 w 6394458"/>
                <a:gd name="connsiteY26" fmla="*/ 3641991 h 6858000"/>
                <a:gd name="connsiteX27" fmla="*/ 385891 w 6394458"/>
                <a:gd name="connsiteY27" fmla="*/ 4006104 h 6858000"/>
                <a:gd name="connsiteX28" fmla="*/ 386182 w 6394458"/>
                <a:gd name="connsiteY28" fmla="*/ 4006685 h 6858000"/>
                <a:gd name="connsiteX29" fmla="*/ 386472 w 6394458"/>
                <a:gd name="connsiteY29" fmla="*/ 4007266 h 6858000"/>
                <a:gd name="connsiteX30" fmla="*/ 413911 w 6394458"/>
                <a:gd name="connsiteY30" fmla="*/ 4068823 h 6858000"/>
                <a:gd name="connsiteX31" fmla="*/ 425380 w 6394458"/>
                <a:gd name="connsiteY31" fmla="*/ 4093794 h 6858000"/>
                <a:gd name="connsiteX32" fmla="*/ 435834 w 6394458"/>
                <a:gd name="connsiteY32" fmla="*/ 4114845 h 6858000"/>
                <a:gd name="connsiteX33" fmla="*/ 468644 w 6394458"/>
                <a:gd name="connsiteY33" fmla="*/ 4178435 h 6858000"/>
                <a:gd name="connsiteX34" fmla="*/ 468935 w 6394458"/>
                <a:gd name="connsiteY34" fmla="*/ 4179015 h 6858000"/>
                <a:gd name="connsiteX35" fmla="*/ 469225 w 6394458"/>
                <a:gd name="connsiteY35" fmla="*/ 4179596 h 6858000"/>
                <a:gd name="connsiteX36" fmla="*/ 566496 w 6394458"/>
                <a:gd name="connsiteY36" fmla="*/ 4345828 h 6858000"/>
                <a:gd name="connsiteX37" fmla="*/ 674366 w 6394458"/>
                <a:gd name="connsiteY37" fmla="*/ 4507124 h 6858000"/>
                <a:gd name="connsiteX38" fmla="*/ 790946 w 6394458"/>
                <a:gd name="connsiteY38" fmla="*/ 4665372 h 6858000"/>
                <a:gd name="connsiteX39" fmla="*/ 938015 w 6394458"/>
                <a:gd name="connsiteY39" fmla="*/ 4855559 h 6858000"/>
                <a:gd name="connsiteX40" fmla="*/ 1035286 w 6394458"/>
                <a:gd name="connsiteY40" fmla="*/ 4980269 h 6858000"/>
                <a:gd name="connsiteX41" fmla="*/ 1158254 w 6394458"/>
                <a:gd name="connsiteY41" fmla="*/ 5140985 h 6858000"/>
                <a:gd name="connsiteX42" fmla="*/ 1221118 w 6394458"/>
                <a:gd name="connsiteY42" fmla="*/ 5226351 h 6858000"/>
                <a:gd name="connsiteX43" fmla="*/ 1277448 w 6394458"/>
                <a:gd name="connsiteY43" fmla="*/ 5303007 h 6858000"/>
                <a:gd name="connsiteX44" fmla="*/ 1277739 w 6394458"/>
                <a:gd name="connsiteY44" fmla="*/ 5303297 h 6858000"/>
                <a:gd name="connsiteX45" fmla="*/ 1278029 w 6394458"/>
                <a:gd name="connsiteY45" fmla="*/ 5303588 h 6858000"/>
                <a:gd name="connsiteX46" fmla="*/ 1376607 w 6394458"/>
                <a:gd name="connsiteY46" fmla="*/ 5433525 h 6858000"/>
                <a:gd name="connsiteX47" fmla="*/ 1395625 w 6394458"/>
                <a:gd name="connsiteY47" fmla="*/ 5458060 h 6858000"/>
                <a:gd name="connsiteX48" fmla="*/ 1405207 w 6394458"/>
                <a:gd name="connsiteY48" fmla="*/ 5469965 h 6858000"/>
                <a:gd name="connsiteX49" fmla="*/ 1518739 w 6394458"/>
                <a:gd name="connsiteY49" fmla="*/ 5607597 h 6858000"/>
                <a:gd name="connsiteX50" fmla="*/ 1779194 w 6394458"/>
                <a:gd name="connsiteY50" fmla="*/ 5888957 h 6858000"/>
                <a:gd name="connsiteX51" fmla="*/ 2361805 w 6394458"/>
                <a:gd name="connsiteY51" fmla="*/ 6356876 h 6858000"/>
                <a:gd name="connsiteX52" fmla="*/ 2682656 w 6394458"/>
                <a:gd name="connsiteY52" fmla="*/ 6532110 h 6858000"/>
                <a:gd name="connsiteX53" fmla="*/ 2682946 w 6394458"/>
                <a:gd name="connsiteY53" fmla="*/ 6532255 h 6858000"/>
                <a:gd name="connsiteX54" fmla="*/ 2683236 w 6394458"/>
                <a:gd name="connsiteY54" fmla="*/ 6532400 h 6858000"/>
                <a:gd name="connsiteX55" fmla="*/ 3021944 w 6394458"/>
                <a:gd name="connsiteY55" fmla="*/ 6664805 h 6858000"/>
                <a:gd name="connsiteX56" fmla="*/ 3375605 w 6394458"/>
                <a:gd name="connsiteY56" fmla="*/ 6756415 h 6858000"/>
                <a:gd name="connsiteX57" fmla="*/ 3555048 w 6394458"/>
                <a:gd name="connsiteY57" fmla="*/ 6786612 h 6858000"/>
                <a:gd name="connsiteX58" fmla="*/ 3735218 w 6394458"/>
                <a:gd name="connsiteY58" fmla="*/ 6807083 h 6858000"/>
                <a:gd name="connsiteX59" fmla="*/ 4108188 w 6394458"/>
                <a:gd name="connsiteY59" fmla="*/ 6823343 h 6858000"/>
                <a:gd name="connsiteX60" fmla="*/ 4126917 w 6394458"/>
                <a:gd name="connsiteY60" fmla="*/ 6823343 h 6858000"/>
                <a:gd name="connsiteX61" fmla="*/ 4151597 w 6394458"/>
                <a:gd name="connsiteY61" fmla="*/ 6823488 h 6858000"/>
                <a:gd name="connsiteX62" fmla="*/ 4199652 w 6394458"/>
                <a:gd name="connsiteY62" fmla="*/ 6822763 h 6858000"/>
                <a:gd name="connsiteX63" fmla="*/ 4200088 w 6394458"/>
                <a:gd name="connsiteY63" fmla="*/ 6822763 h 6858000"/>
                <a:gd name="connsiteX64" fmla="*/ 4200523 w 6394458"/>
                <a:gd name="connsiteY64" fmla="*/ 6822763 h 6858000"/>
                <a:gd name="connsiteX65" fmla="*/ 4245675 w 6394458"/>
                <a:gd name="connsiteY65" fmla="*/ 6821601 h 6858000"/>
                <a:gd name="connsiteX66" fmla="*/ 4291117 w 6394458"/>
                <a:gd name="connsiteY66" fmla="*/ 6819277 h 6858000"/>
                <a:gd name="connsiteX67" fmla="*/ 4469108 w 6394458"/>
                <a:gd name="connsiteY67" fmla="*/ 6803743 h 6858000"/>
                <a:gd name="connsiteX68" fmla="*/ 5157267 w 6394458"/>
                <a:gd name="connsiteY68" fmla="*/ 6617766 h 6858000"/>
                <a:gd name="connsiteX69" fmla="*/ 5484069 w 6394458"/>
                <a:gd name="connsiteY69" fmla="*/ 6455744 h 6858000"/>
                <a:gd name="connsiteX70" fmla="*/ 5801144 w 6394458"/>
                <a:gd name="connsiteY70" fmla="*/ 6257717 h 6858000"/>
                <a:gd name="connsiteX71" fmla="*/ 6111106 w 6394458"/>
                <a:gd name="connsiteY71" fmla="*/ 6032542 h 6858000"/>
                <a:gd name="connsiteX72" fmla="*/ 6264127 w 6394458"/>
                <a:gd name="connsiteY72" fmla="*/ 5913203 h 6858000"/>
                <a:gd name="connsiteX73" fmla="*/ 6394458 w 6394458"/>
                <a:gd name="connsiteY73" fmla="*/ 5808939 h 6858000"/>
                <a:gd name="connsiteX74" fmla="*/ 6394458 w 6394458"/>
                <a:gd name="connsiteY74" fmla="*/ 6858000 h 6858000"/>
                <a:gd name="connsiteX75" fmla="*/ 2234128 w 6394458"/>
                <a:gd name="connsiteY75" fmla="*/ 6858000 h 6858000"/>
                <a:gd name="connsiteX76" fmla="*/ 2151583 w 6394458"/>
                <a:gd name="connsiteY76" fmla="*/ 6802146 h 6858000"/>
                <a:gd name="connsiteX77" fmla="*/ 593791 w 6394458"/>
                <a:gd name="connsiteY77" fmla="*/ 5241450 h 6858000"/>
                <a:gd name="connsiteX78" fmla="*/ 0 w 6394458"/>
                <a:gd name="connsiteY78" fmla="*/ 3044861 h 6858000"/>
                <a:gd name="connsiteX79" fmla="*/ 342337 w 6394458"/>
                <a:gd name="connsiteY79" fmla="*/ 1349581 h 6858000"/>
                <a:gd name="connsiteX80" fmla="*/ 1129762 w 6394458"/>
                <a:gd name="connsiteY80" fmla="*/ 118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394458" h="6858000">
                  <a:moveTo>
                    <a:pt x="1242460" y="0"/>
                  </a:moveTo>
                  <a:lnTo>
                    <a:pt x="2160732" y="0"/>
                  </a:lnTo>
                  <a:lnTo>
                    <a:pt x="2096124" y="41936"/>
                  </a:lnTo>
                  <a:cubicBezTo>
                    <a:pt x="2053586" y="71988"/>
                    <a:pt x="1997691" y="111913"/>
                    <a:pt x="1942232" y="154451"/>
                  </a:cubicBezTo>
                  <a:lnTo>
                    <a:pt x="1941942" y="154741"/>
                  </a:lnTo>
                  <a:lnTo>
                    <a:pt x="1941652" y="155032"/>
                  </a:lnTo>
                  <a:cubicBezTo>
                    <a:pt x="1920455" y="170711"/>
                    <a:pt x="1899113" y="187262"/>
                    <a:pt x="1878498" y="203377"/>
                  </a:cubicBezTo>
                  <a:lnTo>
                    <a:pt x="1865722" y="213395"/>
                  </a:lnTo>
                  <a:cubicBezTo>
                    <a:pt x="1838863" y="233865"/>
                    <a:pt x="1813311" y="254771"/>
                    <a:pt x="1791679" y="272483"/>
                  </a:cubicBezTo>
                  <a:cubicBezTo>
                    <a:pt x="1684245" y="360463"/>
                    <a:pt x="1590023" y="443216"/>
                    <a:pt x="1503495" y="525389"/>
                  </a:cubicBezTo>
                  <a:cubicBezTo>
                    <a:pt x="1315050" y="703090"/>
                    <a:pt x="1142430" y="895746"/>
                    <a:pt x="990135" y="1098128"/>
                  </a:cubicBezTo>
                  <a:cubicBezTo>
                    <a:pt x="911301" y="1202949"/>
                    <a:pt x="837695" y="1310238"/>
                    <a:pt x="771637" y="1416800"/>
                  </a:cubicBezTo>
                  <a:cubicBezTo>
                    <a:pt x="697595" y="1538898"/>
                    <a:pt x="636764" y="1650106"/>
                    <a:pt x="585660" y="1756960"/>
                  </a:cubicBezTo>
                  <a:lnTo>
                    <a:pt x="585515" y="1757395"/>
                  </a:lnTo>
                  <a:lnTo>
                    <a:pt x="585370" y="1757831"/>
                  </a:lnTo>
                  <a:cubicBezTo>
                    <a:pt x="570271" y="1788174"/>
                    <a:pt x="556334" y="1818952"/>
                    <a:pt x="544574" y="1845230"/>
                  </a:cubicBezTo>
                  <a:lnTo>
                    <a:pt x="524539" y="1889510"/>
                  </a:lnTo>
                  <a:lnTo>
                    <a:pt x="505666" y="1933935"/>
                  </a:lnTo>
                  <a:lnTo>
                    <a:pt x="502762" y="1940904"/>
                  </a:lnTo>
                  <a:cubicBezTo>
                    <a:pt x="491002" y="1969214"/>
                    <a:pt x="479823" y="1996073"/>
                    <a:pt x="469661" y="2023512"/>
                  </a:cubicBezTo>
                  <a:cubicBezTo>
                    <a:pt x="465450" y="2034691"/>
                    <a:pt x="461240" y="2045870"/>
                    <a:pt x="456885" y="2057049"/>
                  </a:cubicBezTo>
                  <a:cubicBezTo>
                    <a:pt x="449190" y="2076794"/>
                    <a:pt x="442076" y="2095522"/>
                    <a:pt x="435688" y="2114395"/>
                  </a:cubicBezTo>
                  <a:lnTo>
                    <a:pt x="435543" y="2114976"/>
                  </a:lnTo>
                  <a:lnTo>
                    <a:pt x="435253" y="2115557"/>
                  </a:lnTo>
                  <a:cubicBezTo>
                    <a:pt x="390392" y="2239687"/>
                    <a:pt x="353226" y="2365123"/>
                    <a:pt x="324770" y="2488382"/>
                  </a:cubicBezTo>
                  <a:cubicBezTo>
                    <a:pt x="265391" y="2742158"/>
                    <a:pt x="235193" y="3002178"/>
                    <a:pt x="235338" y="3261036"/>
                  </a:cubicBezTo>
                  <a:cubicBezTo>
                    <a:pt x="236210" y="3391989"/>
                    <a:pt x="248695" y="3520474"/>
                    <a:pt x="272505" y="3641991"/>
                  </a:cubicBezTo>
                  <a:cubicBezTo>
                    <a:pt x="299073" y="3770621"/>
                    <a:pt x="337110" y="3893154"/>
                    <a:pt x="385891" y="4006104"/>
                  </a:cubicBezTo>
                  <a:lnTo>
                    <a:pt x="386182" y="4006685"/>
                  </a:lnTo>
                  <a:lnTo>
                    <a:pt x="386472" y="4007266"/>
                  </a:lnTo>
                  <a:cubicBezTo>
                    <a:pt x="394747" y="4027591"/>
                    <a:pt x="404039" y="4047626"/>
                    <a:pt x="413911" y="4068823"/>
                  </a:cubicBezTo>
                  <a:cubicBezTo>
                    <a:pt x="417686" y="4077098"/>
                    <a:pt x="421606" y="4085374"/>
                    <a:pt x="425380" y="4093794"/>
                  </a:cubicBezTo>
                  <a:cubicBezTo>
                    <a:pt x="428865" y="4100908"/>
                    <a:pt x="432349" y="4107876"/>
                    <a:pt x="435834" y="4114845"/>
                  </a:cubicBezTo>
                  <a:cubicBezTo>
                    <a:pt x="446867" y="4136913"/>
                    <a:pt x="457320" y="4157819"/>
                    <a:pt x="468644" y="4178435"/>
                  </a:cubicBezTo>
                  <a:lnTo>
                    <a:pt x="468935" y="4179015"/>
                  </a:lnTo>
                  <a:lnTo>
                    <a:pt x="469225" y="4179596"/>
                  </a:lnTo>
                  <a:cubicBezTo>
                    <a:pt x="495213" y="4229103"/>
                    <a:pt x="525120" y="4280352"/>
                    <a:pt x="566496" y="4345828"/>
                  </a:cubicBezTo>
                  <a:cubicBezTo>
                    <a:pt x="598727" y="4397368"/>
                    <a:pt x="633135" y="4447745"/>
                    <a:pt x="674366" y="4507124"/>
                  </a:cubicBezTo>
                  <a:cubicBezTo>
                    <a:pt x="713129" y="4561713"/>
                    <a:pt x="753199" y="4615139"/>
                    <a:pt x="790946" y="4665372"/>
                  </a:cubicBezTo>
                  <a:cubicBezTo>
                    <a:pt x="839001" y="4729106"/>
                    <a:pt x="889379" y="4793421"/>
                    <a:pt x="938015" y="4855559"/>
                  </a:cubicBezTo>
                  <a:cubicBezTo>
                    <a:pt x="969955" y="4896355"/>
                    <a:pt x="1003056" y="4938457"/>
                    <a:pt x="1035286" y="4980269"/>
                  </a:cubicBezTo>
                  <a:cubicBezTo>
                    <a:pt x="1069113" y="5023969"/>
                    <a:pt x="1113684" y="5081606"/>
                    <a:pt x="1158254" y="5140985"/>
                  </a:cubicBezTo>
                  <a:cubicBezTo>
                    <a:pt x="1179451" y="5169005"/>
                    <a:pt x="1200647" y="5198186"/>
                    <a:pt x="1221118" y="5226351"/>
                  </a:cubicBezTo>
                  <a:cubicBezTo>
                    <a:pt x="1240572" y="5253065"/>
                    <a:pt x="1259010" y="5278471"/>
                    <a:pt x="1277448" y="5303007"/>
                  </a:cubicBezTo>
                  <a:lnTo>
                    <a:pt x="1277739" y="5303297"/>
                  </a:lnTo>
                  <a:lnTo>
                    <a:pt x="1278029" y="5303588"/>
                  </a:lnTo>
                  <a:cubicBezTo>
                    <a:pt x="1309824" y="5347287"/>
                    <a:pt x="1343796" y="5391132"/>
                    <a:pt x="1376607" y="5433525"/>
                  </a:cubicBezTo>
                  <a:lnTo>
                    <a:pt x="1395625" y="5458060"/>
                  </a:lnTo>
                  <a:lnTo>
                    <a:pt x="1405207" y="5469965"/>
                  </a:lnTo>
                  <a:cubicBezTo>
                    <a:pt x="1442083" y="5515552"/>
                    <a:pt x="1479976" y="5562736"/>
                    <a:pt x="1518739" y="5607597"/>
                  </a:cubicBezTo>
                  <a:cubicBezTo>
                    <a:pt x="1603960" y="5707481"/>
                    <a:pt x="1691650" y="5802139"/>
                    <a:pt x="1779194" y="5888957"/>
                  </a:cubicBezTo>
                  <a:cubicBezTo>
                    <a:pt x="1965606" y="6072902"/>
                    <a:pt x="2161746" y="6230423"/>
                    <a:pt x="2361805" y="6356876"/>
                  </a:cubicBezTo>
                  <a:cubicBezTo>
                    <a:pt x="2475047" y="6427870"/>
                    <a:pt x="2579867" y="6485217"/>
                    <a:pt x="2682656" y="6532110"/>
                  </a:cubicBezTo>
                  <a:lnTo>
                    <a:pt x="2682946" y="6532255"/>
                  </a:lnTo>
                  <a:lnTo>
                    <a:pt x="2683236" y="6532400"/>
                  </a:lnTo>
                  <a:cubicBezTo>
                    <a:pt x="2787767" y="6581616"/>
                    <a:pt x="2901734" y="6626187"/>
                    <a:pt x="3021944" y="6664805"/>
                  </a:cubicBezTo>
                  <a:cubicBezTo>
                    <a:pt x="3132572" y="6700374"/>
                    <a:pt x="3251620" y="6731298"/>
                    <a:pt x="3375605" y="6756415"/>
                  </a:cubicBezTo>
                  <a:cubicBezTo>
                    <a:pt x="3432661" y="6767738"/>
                    <a:pt x="3493201" y="6777901"/>
                    <a:pt x="3555048" y="6786612"/>
                  </a:cubicBezTo>
                  <a:cubicBezTo>
                    <a:pt x="3613121" y="6794742"/>
                    <a:pt x="3673807" y="6801566"/>
                    <a:pt x="3735218" y="6807083"/>
                  </a:cubicBezTo>
                  <a:cubicBezTo>
                    <a:pt x="3852670" y="6817826"/>
                    <a:pt x="3974622" y="6823052"/>
                    <a:pt x="4108188" y="6823343"/>
                  </a:cubicBezTo>
                  <a:lnTo>
                    <a:pt x="4126917" y="6823343"/>
                  </a:lnTo>
                  <a:cubicBezTo>
                    <a:pt x="4135192" y="6823488"/>
                    <a:pt x="4143322" y="6823488"/>
                    <a:pt x="4151597" y="6823488"/>
                  </a:cubicBezTo>
                  <a:cubicBezTo>
                    <a:pt x="4171487" y="6823488"/>
                    <a:pt x="4186296" y="6823343"/>
                    <a:pt x="4199652" y="6822763"/>
                  </a:cubicBezTo>
                  <a:lnTo>
                    <a:pt x="4200088" y="6822763"/>
                  </a:lnTo>
                  <a:lnTo>
                    <a:pt x="4200523" y="6822763"/>
                  </a:lnTo>
                  <a:lnTo>
                    <a:pt x="4245675" y="6821601"/>
                  </a:lnTo>
                  <a:lnTo>
                    <a:pt x="4291117" y="6819277"/>
                  </a:lnTo>
                  <a:cubicBezTo>
                    <a:pt x="4342801" y="6816955"/>
                    <a:pt x="4397825" y="6812164"/>
                    <a:pt x="4469108" y="6803743"/>
                  </a:cubicBezTo>
                  <a:cubicBezTo>
                    <a:pt x="4700672" y="6775433"/>
                    <a:pt x="4932236" y="6712860"/>
                    <a:pt x="5157267" y="6617766"/>
                  </a:cubicBezTo>
                  <a:cubicBezTo>
                    <a:pt x="5260490" y="6574648"/>
                    <a:pt x="5367344" y="6521656"/>
                    <a:pt x="5484069" y="6455744"/>
                  </a:cubicBezTo>
                  <a:cubicBezTo>
                    <a:pt x="5584535" y="6399414"/>
                    <a:pt x="5688194" y="6334663"/>
                    <a:pt x="5801144" y="6257717"/>
                  </a:cubicBezTo>
                  <a:cubicBezTo>
                    <a:pt x="5894061" y="6194419"/>
                    <a:pt x="5992638" y="6122844"/>
                    <a:pt x="6111106" y="6032542"/>
                  </a:cubicBezTo>
                  <a:cubicBezTo>
                    <a:pt x="6163081" y="5993052"/>
                    <a:pt x="6215491" y="5951676"/>
                    <a:pt x="6264127" y="5913203"/>
                  </a:cubicBezTo>
                  <a:lnTo>
                    <a:pt x="6394458" y="5808939"/>
                  </a:lnTo>
                  <a:lnTo>
                    <a:pt x="6394458" y="6858000"/>
                  </a:lnTo>
                  <a:lnTo>
                    <a:pt x="2234128" y="6858000"/>
                  </a:lnTo>
                  <a:lnTo>
                    <a:pt x="2151583" y="6802146"/>
                  </a:lnTo>
                  <a:cubicBezTo>
                    <a:pt x="1509012" y="6424386"/>
                    <a:pt x="970245" y="5884748"/>
                    <a:pt x="593791" y="5241450"/>
                  </a:cubicBezTo>
                  <a:cubicBezTo>
                    <a:pt x="205286" y="4577683"/>
                    <a:pt x="0" y="3818240"/>
                    <a:pt x="0" y="3044861"/>
                  </a:cubicBezTo>
                  <a:cubicBezTo>
                    <a:pt x="0" y="2457023"/>
                    <a:pt x="115129" y="1886606"/>
                    <a:pt x="342337" y="1349581"/>
                  </a:cubicBezTo>
                  <a:cubicBezTo>
                    <a:pt x="534284" y="895692"/>
                    <a:pt x="798705" y="482372"/>
                    <a:pt x="1129762" y="118183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7186" name="Freeform: Shape 7185">
              <a:extLst>
                <a:ext uri="{FF2B5EF4-FFF2-40B4-BE49-F238E27FC236}">
                  <a16:creationId xmlns:a16="http://schemas.microsoft.com/office/drawing/2014/main" id="{1905757E-C772-4187-BD34-A12DC33F3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4266" y="0"/>
              <a:ext cx="6419426" cy="6858000"/>
            </a:xfrm>
            <a:custGeom>
              <a:avLst/>
              <a:gdLst>
                <a:gd name="connsiteX0" fmla="*/ 6419426 w 6419426"/>
                <a:gd name="connsiteY0" fmla="*/ 6276207 h 6858000"/>
                <a:gd name="connsiteX1" fmla="*/ 6419426 w 6419426"/>
                <a:gd name="connsiteY1" fmla="*/ 6858000 h 6858000"/>
                <a:gd name="connsiteX2" fmla="*/ 5377226 w 6419426"/>
                <a:gd name="connsiteY2" fmla="*/ 6858000 h 6858000"/>
                <a:gd name="connsiteX3" fmla="*/ 5526079 w 6419426"/>
                <a:gd name="connsiteY3" fmla="*/ 6799309 h 6858000"/>
                <a:gd name="connsiteX4" fmla="*/ 6372097 w 6419426"/>
                <a:gd name="connsiteY4" fmla="*/ 6313400 h 6858000"/>
                <a:gd name="connsiteX5" fmla="*/ 0 w 6419426"/>
                <a:gd name="connsiteY5" fmla="*/ 3944218 h 6858000"/>
                <a:gd name="connsiteX6" fmla="*/ 31811 w 6419426"/>
                <a:gd name="connsiteY6" fmla="*/ 4082046 h 6858000"/>
                <a:gd name="connsiteX7" fmla="*/ 2375871 w 6419426"/>
                <a:gd name="connsiteY7" fmla="*/ 6799309 h 6858000"/>
                <a:gd name="connsiteX8" fmla="*/ 2524724 w 6419426"/>
                <a:gd name="connsiteY8" fmla="*/ 6858000 h 6858000"/>
                <a:gd name="connsiteX9" fmla="*/ 0 w 6419426"/>
                <a:gd name="connsiteY9" fmla="*/ 6858000 h 6858000"/>
                <a:gd name="connsiteX10" fmla="*/ 0 w 6419426"/>
                <a:gd name="connsiteY10" fmla="*/ 0 h 6858000"/>
                <a:gd name="connsiteX11" fmla="*/ 1320019 w 6419426"/>
                <a:gd name="connsiteY11" fmla="*/ 0 h 6858000"/>
                <a:gd name="connsiteX12" fmla="*/ 1089625 w 6419426"/>
                <a:gd name="connsiteY12" fmla="*/ 209396 h 6858000"/>
                <a:gd name="connsiteX13" fmla="*/ 31811 w 6419426"/>
                <a:gd name="connsiteY13" fmla="*/ 2059448 h 6858000"/>
                <a:gd name="connsiteX14" fmla="*/ 0 w 6419426"/>
                <a:gd name="connsiteY14" fmla="*/ 219727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19426" h="6858000">
                  <a:moveTo>
                    <a:pt x="6419426" y="6276207"/>
                  </a:moveTo>
                  <a:lnTo>
                    <a:pt x="6419426" y="6858000"/>
                  </a:lnTo>
                  <a:lnTo>
                    <a:pt x="5377226" y="6858000"/>
                  </a:lnTo>
                  <a:lnTo>
                    <a:pt x="5526079" y="6799309"/>
                  </a:lnTo>
                  <a:cubicBezTo>
                    <a:pt x="5828657" y="6671330"/>
                    <a:pt x="6112428" y="6507594"/>
                    <a:pt x="6372097" y="6313400"/>
                  </a:cubicBezTo>
                  <a:close/>
                  <a:moveTo>
                    <a:pt x="0" y="3944218"/>
                  </a:moveTo>
                  <a:lnTo>
                    <a:pt x="31811" y="4082046"/>
                  </a:lnTo>
                  <a:cubicBezTo>
                    <a:pt x="347839" y="5310348"/>
                    <a:pt x="1226077" y="6312987"/>
                    <a:pt x="2375871" y="6799309"/>
                  </a:cubicBezTo>
                  <a:lnTo>
                    <a:pt x="2524724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1320019" y="0"/>
                  </a:lnTo>
                  <a:lnTo>
                    <a:pt x="1089625" y="209396"/>
                  </a:lnTo>
                  <a:cubicBezTo>
                    <a:pt x="586180" y="712841"/>
                    <a:pt x="214775" y="1348326"/>
                    <a:pt x="31811" y="2059448"/>
                  </a:cubicBezTo>
                  <a:lnTo>
                    <a:pt x="0" y="219727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FB1B7-DCBA-7604-C528-1711602D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339466"/>
            <a:ext cx="5215116" cy="1223141"/>
          </a:xfrm>
        </p:spPr>
        <p:txBody>
          <a:bodyPr anchor="b">
            <a:normAutofit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79F76-543A-CED6-165F-9EC5CE9E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1747642"/>
            <a:ext cx="5118283" cy="4744598"/>
          </a:xfrm>
        </p:spPr>
        <p:txBody>
          <a:bodyPr anchor="ctr">
            <a:normAutofit/>
          </a:bodyPr>
          <a:lstStyle/>
          <a:p>
            <a:pPr marL="0" indent="457200" algn="just">
              <a:buNone/>
            </a:pPr>
            <a:r>
              <a:rPr lang="ru-RU" sz="2400" dirty="0">
                <a:solidFill>
                  <a:schemeClr val="tx2"/>
                </a:solidFill>
              </a:rPr>
              <a:t>В России по данным МВД, в 2024 году было совершено 765 400 преступлений с использованием цифровых технологий, их число выросло на 13,1% с 2023-го, увеличилась и доля таких преступлений, при этом в 3–5% от числа таких случаев преступники отправляли дипфейки, хотя еще совсем недавно этот показатель не превышал десятых долей процента.</a:t>
            </a:r>
          </a:p>
        </p:txBody>
      </p:sp>
    </p:spTree>
    <p:extLst>
      <p:ext uri="{BB962C8B-B14F-4D97-AF65-F5344CB8AC3E}">
        <p14:creationId xmlns:p14="http://schemas.microsoft.com/office/powerpoint/2010/main" val="577731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Freeform: Shape 8204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40607-A792-95E9-AAE2-FE98F62B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ru-RU" b="1" dirty="0"/>
              <a:t>Цель</a:t>
            </a:r>
          </a:p>
        </p:txBody>
      </p:sp>
      <p:pic>
        <p:nvPicPr>
          <p:cNvPr id="8198" name="Picture 6" descr="Свёрточные нейронные сети — надежда и опора генеративного ИИ /  Искусственный интеллект">
            <a:extLst>
              <a:ext uri="{FF2B5EF4-FFF2-40B4-BE49-F238E27FC236}">
                <a16:creationId xmlns:a16="http://schemas.microsoft.com/office/drawing/2014/main" id="{6A6B217D-3066-316F-38C3-CC2E08AF0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8679" y="249713"/>
            <a:ext cx="9574642" cy="279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D05FDEA3-69B2-C652-75F8-60DB1CEA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63" y="3685032"/>
            <a:ext cx="7016817" cy="3172967"/>
          </a:xfrm>
        </p:spPr>
        <p:txBody>
          <a:bodyPr anchor="ctr">
            <a:normAutofit lnSpcReduction="10000"/>
          </a:bodyPr>
          <a:lstStyle/>
          <a:p>
            <a:pPr marL="0" indent="457200" algn="just">
              <a:buNone/>
            </a:pPr>
            <a:r>
              <a:rPr lang="ru-RU" sz="2400" dirty="0"/>
              <a:t>Целью работы является разработка системы автоматического определения сгенерированных изображений человеческих лиц, позволяющая снять с человека обязанность по визуальной верификации подлинности собеседника. В качестве основного инструмента такой системы предлагается использование свёрточной нейронной сети, обученной на размеченном наборе данных, содержащем реальные и дипфейк-изображения.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773742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BBBFA-2D83-119D-B72A-2F0312EA9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ru-RU" b="1" dirty="0"/>
              <a:t>Задачи</a:t>
            </a:r>
          </a:p>
        </p:txBody>
      </p:sp>
      <p:pic>
        <p:nvPicPr>
          <p:cNvPr id="9218" name="Picture 2" descr="Как правильно ставить задачи сотрудникам | Скорозвон">
            <a:extLst>
              <a:ext uri="{FF2B5EF4-FFF2-40B4-BE49-F238E27FC236}">
                <a16:creationId xmlns:a16="http://schemas.microsoft.com/office/drawing/2014/main" id="{7274C9BC-29DD-35A5-20A3-DEFE7CBB2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81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E8830BC-E4BF-175E-C03E-00F39324F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0" lvl="0" indent="0" algn="just">
              <a:buNone/>
            </a:pPr>
            <a:r>
              <a:rPr lang="ru-RU" sz="2400" dirty="0"/>
              <a:t>1. Провести анализ предметной области:</a:t>
            </a:r>
          </a:p>
          <a:p>
            <a:pPr lvl="1" algn="just"/>
            <a:r>
              <a:rPr lang="ru-RU" dirty="0"/>
              <a:t>сформулировать проблему исследования</a:t>
            </a:r>
            <a:r>
              <a:rPr lang="en-US" dirty="0"/>
              <a:t>;</a:t>
            </a:r>
            <a:endParaRPr lang="ru-RU" dirty="0"/>
          </a:p>
          <a:p>
            <a:pPr lvl="1" algn="just"/>
            <a:r>
              <a:rPr lang="ru-RU" dirty="0"/>
              <a:t>сформулировать актуальность исследования</a:t>
            </a:r>
            <a:r>
              <a:rPr lang="en-US" dirty="0"/>
              <a:t>;</a:t>
            </a:r>
            <a:endParaRPr lang="ru-RU" dirty="0"/>
          </a:p>
          <a:p>
            <a:pPr lvl="1" algn="just"/>
            <a:r>
              <a:rPr lang="ru-RU" dirty="0"/>
              <a:t>выполнить анализ существующих подходов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690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529D3-145D-D405-0544-B9B44916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36F91-CD61-C73A-6A20-F5ED02C4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ru-RU" b="1" dirty="0"/>
              <a:t>Задачи</a:t>
            </a:r>
          </a:p>
        </p:txBody>
      </p:sp>
      <p:pic>
        <p:nvPicPr>
          <p:cNvPr id="10242" name="Picture 2" descr="Что такое цели и задачи? - Статьи Moscow Business School | МБШ (Московская  Бизнес Школа)">
            <a:extLst>
              <a:ext uri="{FF2B5EF4-FFF2-40B4-BE49-F238E27FC236}">
                <a16:creationId xmlns:a16="http://schemas.microsoft.com/office/drawing/2014/main" id="{69CD7D2D-5D13-F2E5-A11D-8AB79285E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9" r="7277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2221F3C-2580-7A40-7225-504DC92F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5309404" cy="3843666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ru-RU" sz="2400" dirty="0"/>
              <a:t>2. Построить нейросетевую модель:</a:t>
            </a:r>
          </a:p>
          <a:p>
            <a:pPr lvl="1" algn="just"/>
            <a:r>
              <a:rPr lang="ru-RU" dirty="0"/>
              <a:t>подобрать данные для обучения модели;</a:t>
            </a:r>
          </a:p>
          <a:p>
            <a:pPr lvl="1" algn="just"/>
            <a:r>
              <a:rPr lang="ru-RU" dirty="0"/>
              <a:t>выбрать библиотеки для построения модели;</a:t>
            </a:r>
          </a:p>
          <a:p>
            <a:pPr lvl="1" algn="just"/>
            <a:r>
              <a:rPr lang="ru-RU" dirty="0"/>
              <a:t>подготовить данные для обучения</a:t>
            </a:r>
            <a:r>
              <a:rPr lang="en-US" dirty="0"/>
              <a:t>;</a:t>
            </a:r>
            <a:endParaRPr lang="ru-RU" dirty="0"/>
          </a:p>
          <a:p>
            <a:pPr lvl="1" algn="just"/>
            <a:r>
              <a:rPr lang="ru-RU" dirty="0"/>
              <a:t>построить архитектуру модели</a:t>
            </a:r>
            <a:r>
              <a:rPr lang="en-US" dirty="0"/>
              <a:t>;</a:t>
            </a:r>
            <a:endParaRPr lang="ru-RU" dirty="0"/>
          </a:p>
          <a:p>
            <a:pPr lvl="1" algn="just"/>
            <a:r>
              <a:rPr lang="ru-RU" dirty="0"/>
              <a:t>обучить модель</a:t>
            </a:r>
            <a:r>
              <a:rPr lang="en-US" dirty="0"/>
              <a:t>;</a:t>
            </a:r>
            <a:endParaRPr lang="ru-RU" dirty="0"/>
          </a:p>
          <a:p>
            <a:pPr lvl="1" algn="just"/>
            <a:r>
              <a:rPr lang="ru-RU" dirty="0"/>
              <a:t>протестировать модель</a:t>
            </a:r>
          </a:p>
        </p:txBody>
      </p:sp>
    </p:spTree>
    <p:extLst>
      <p:ext uri="{BB962C8B-B14F-4D97-AF65-F5344CB8AC3E}">
        <p14:creationId xmlns:p14="http://schemas.microsoft.com/office/powerpoint/2010/main" val="630488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DD00D-48C2-2AC6-1A80-14FE3982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9" name="Rectangle 1127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385BB-0276-75F2-E3CC-160E8BB3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ru-RU" b="1" dirty="0"/>
              <a:t>Задачи</a:t>
            </a:r>
          </a:p>
        </p:txBody>
      </p:sp>
      <p:pic>
        <p:nvPicPr>
          <p:cNvPr id="11266" name="Picture 2" descr="Ведение и учет задач и проектов: методология, принципы, этапы, полезные  программы и системы | EnDocs | Электронный документооборот, задачи и проекты">
            <a:extLst>
              <a:ext uri="{FF2B5EF4-FFF2-40B4-BE49-F238E27FC236}">
                <a16:creationId xmlns:a16="http://schemas.microsoft.com/office/drawing/2014/main" id="{B7160936-CDAB-FBC6-134F-3580C600C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8" r="4770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FB5F-91CE-6E88-D6D3-26F287FD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5227108" cy="3843666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sz="2400" dirty="0"/>
              <a:t>3. Осуществить анализ результатов:</a:t>
            </a:r>
          </a:p>
          <a:p>
            <a:pPr lvl="1" algn="just"/>
            <a:r>
              <a:rPr lang="ru-RU" dirty="0"/>
              <a:t>оценить качество модели;</a:t>
            </a:r>
          </a:p>
          <a:p>
            <a:pPr lvl="1" algn="just"/>
            <a:r>
              <a:rPr lang="ru-RU" dirty="0"/>
              <a:t>определить последствия внедрения предложенного решения для задач информационной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38019129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8" name="Freeform: Shape 1229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EAD5C-5911-523B-04D3-529B5ADB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37745"/>
            <a:ext cx="4133088" cy="1779750"/>
          </a:xfrm>
        </p:spPr>
        <p:txBody>
          <a:bodyPr>
            <a:noAutofit/>
          </a:bodyPr>
          <a:lstStyle/>
          <a:p>
            <a:r>
              <a:rPr lang="ru-RU" b="1" dirty="0"/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A40416-9A84-E934-0C01-96ED62567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2194102"/>
            <a:ext cx="4033335" cy="4298138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Анализ предметной области был проведен и подробно приведен в предыдущих пунктах. На основе проведённого анализа сформулированы требования к разрабатываемой системе и обоснован выбор свёрточной нейронной сети в качестве основного метода обнаружения дипфейк-изображений.</a:t>
            </a:r>
          </a:p>
        </p:txBody>
      </p:sp>
      <p:pic>
        <p:nvPicPr>
          <p:cNvPr id="12291" name="Picture 3" descr="Маленькие задачи, а доверия ещё меньше / Хабр">
            <a:extLst>
              <a:ext uri="{FF2B5EF4-FFF2-40B4-BE49-F238E27FC236}">
                <a16:creationId xmlns:a16="http://schemas.microsoft.com/office/drawing/2014/main" id="{5AAA13EE-C9EF-127C-AAFE-BA0F1E519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5457" y="2017494"/>
            <a:ext cx="6155141" cy="284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110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687BF-423A-15D0-6325-1066E8D8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107949"/>
            <a:ext cx="6014262" cy="1330840"/>
          </a:xfrm>
        </p:spPr>
        <p:txBody>
          <a:bodyPr>
            <a:noAutofit/>
          </a:bodyPr>
          <a:lstStyle/>
          <a:p>
            <a:r>
              <a:rPr lang="ru-RU" b="1" dirty="0"/>
              <a:t>Построение нейросетевой модели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C80F7D-FD1C-726D-3024-7F8F07532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" y="1438789"/>
            <a:ext cx="6014262" cy="5311261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Архитектура модели будет состоять из следующих слоев:</a:t>
            </a:r>
          </a:p>
          <a:p>
            <a:pPr lvl="0" algn="just"/>
            <a:r>
              <a:rPr lang="ru-RU" sz="2400" dirty="0"/>
              <a:t>входного слоя – для подачи изображения в модель;</a:t>
            </a:r>
          </a:p>
          <a:p>
            <a:pPr lvl="0" algn="just"/>
            <a:r>
              <a:rPr lang="ru-RU" sz="2400" dirty="0"/>
              <a:t>4 сверточных слоя с операцией «</a:t>
            </a:r>
            <a:r>
              <a:rPr lang="en-US" sz="2400" dirty="0" err="1"/>
              <a:t>MaxPooling</a:t>
            </a:r>
            <a:r>
              <a:rPr lang="ru-RU" sz="2400" dirty="0"/>
              <a:t>» – для выделения ключевых признаков; </a:t>
            </a:r>
          </a:p>
          <a:p>
            <a:pPr lvl="0" algn="just"/>
            <a:r>
              <a:rPr lang="ru-RU" sz="2400" dirty="0"/>
              <a:t>слой «</a:t>
            </a:r>
            <a:r>
              <a:rPr lang="en-US" sz="2400" dirty="0"/>
              <a:t>flatten</a:t>
            </a:r>
            <a:r>
              <a:rPr lang="ru-RU" sz="2400" dirty="0"/>
              <a:t>» – который переведет вектор изображения в одномерный;</a:t>
            </a:r>
          </a:p>
          <a:p>
            <a:pPr lvl="0" algn="just"/>
            <a:r>
              <a:rPr lang="ru-RU" sz="2400" dirty="0"/>
              <a:t>2 </a:t>
            </a:r>
            <a:r>
              <a:rPr lang="ru-RU" sz="2400" dirty="0" err="1"/>
              <a:t>полносвязных</a:t>
            </a:r>
            <a:r>
              <a:rPr lang="ru-RU" sz="2400" dirty="0"/>
              <a:t> слоя – для обработки признаков одномерного вектора;</a:t>
            </a:r>
          </a:p>
          <a:p>
            <a:pPr algn="just"/>
            <a:r>
              <a:rPr lang="ru-RU" sz="2400" dirty="0"/>
              <a:t>выходной слой с операцией «</a:t>
            </a:r>
            <a:r>
              <a:rPr lang="en-US" sz="2400" dirty="0"/>
              <a:t>sigmoid</a:t>
            </a:r>
            <a:r>
              <a:rPr lang="ru-RU" sz="2400" dirty="0"/>
              <a:t>» – для формирования ответа.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100804-073D-106B-1C0C-9CE8C047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767" y="717012"/>
            <a:ext cx="4343336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22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CAFE0-2648-CC2A-D055-12075238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5" y="3877968"/>
            <a:ext cx="4215063" cy="2398713"/>
          </a:xfrm>
        </p:spPr>
        <p:txBody>
          <a:bodyPr>
            <a:normAutofit/>
          </a:bodyPr>
          <a:lstStyle/>
          <a:p>
            <a:r>
              <a:rPr lang="ru-RU" b="1" dirty="0"/>
              <a:t>Построение нейросетевой модели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D614D3-5C1E-02A5-0BE1-77F16378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738361"/>
            <a:ext cx="9875259" cy="2099465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A50C1C2-648C-0872-E063-DB69EBE8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504" y="3605582"/>
            <a:ext cx="8046721" cy="2943484"/>
          </a:xfrm>
        </p:spPr>
        <p:txBody>
          <a:bodyPr anchor="ctr"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В процессе компиляции модели были заданы следующие параметры:</a:t>
            </a:r>
          </a:p>
          <a:p>
            <a:pPr lvl="0" algn="just"/>
            <a:r>
              <a:rPr lang="ru-RU" sz="2400" dirty="0"/>
              <a:t>«</a:t>
            </a:r>
            <a:r>
              <a:rPr lang="en-US" sz="2400" dirty="0"/>
              <a:t>Adam</a:t>
            </a:r>
            <a:r>
              <a:rPr lang="ru-RU" sz="2400" dirty="0"/>
              <a:t>» – адаптивный оптимизатор, который вычисляет индивидуальную скорость обучения; </a:t>
            </a:r>
          </a:p>
          <a:p>
            <a:pPr lvl="0" algn="just"/>
            <a:r>
              <a:rPr lang="ru-RU" sz="2400" dirty="0"/>
              <a:t>«</a:t>
            </a:r>
            <a:r>
              <a:rPr lang="ru-RU" sz="2400" dirty="0" err="1"/>
              <a:t>binary_crossentropy</a:t>
            </a:r>
            <a:r>
              <a:rPr lang="ru-RU" sz="2400" dirty="0"/>
              <a:t>» – бинарная кросс-энтропия – функция потерь, используемая для задач бинарной классификации; </a:t>
            </a:r>
          </a:p>
          <a:p>
            <a:pPr lvl="0" algn="just"/>
            <a:r>
              <a:rPr lang="ru-RU" sz="2400" dirty="0"/>
              <a:t>«</a:t>
            </a:r>
            <a:r>
              <a:rPr lang="ru-RU" sz="2400" dirty="0" err="1"/>
              <a:t>accuracy</a:t>
            </a:r>
            <a:r>
              <a:rPr lang="ru-RU" sz="2400" dirty="0"/>
              <a:t>», «</a:t>
            </a:r>
            <a:r>
              <a:rPr lang="ru-RU" sz="2400" dirty="0" err="1"/>
              <a:t>precision</a:t>
            </a:r>
            <a:r>
              <a:rPr lang="ru-RU" sz="2400" dirty="0"/>
              <a:t>» и «</a:t>
            </a:r>
            <a:r>
              <a:rPr lang="ru-RU" sz="2400" dirty="0" err="1"/>
              <a:t>recall</a:t>
            </a:r>
            <a:r>
              <a:rPr lang="ru-RU" sz="2400" dirty="0"/>
              <a:t>» – метрика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2636771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8C0B-E2CC-05B8-AF29-E2BC6F22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Построение нейросетевой модели</a:t>
            </a:r>
            <a:endParaRPr lang="ru-RU" dirty="0"/>
          </a:p>
        </p:txBody>
      </p:sp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74125081-6694-47DB-9455-B215F7A44D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405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4B2BD-4F4D-6A65-5D5D-8CF41BCA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402" y="609600"/>
            <a:ext cx="3986139" cy="1330839"/>
          </a:xfrm>
        </p:spPr>
        <p:txBody>
          <a:bodyPr>
            <a:normAutofit/>
          </a:bodyPr>
          <a:lstStyle/>
          <a:p>
            <a:r>
              <a:rPr lang="ru-RU" b="1" dirty="0"/>
              <a:t>Анализ результатов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96711B-C089-4397-2BAB-783D96C85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02" y="2194102"/>
            <a:ext cx="3697965" cy="3908586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400" dirty="0"/>
              <a:t>Проанализировав график, можно заметить, что точность модели на тренировочной и </a:t>
            </a:r>
            <a:r>
              <a:rPr lang="ru-RU" sz="2400" dirty="0" err="1"/>
              <a:t>валидационной</a:t>
            </a:r>
            <a:r>
              <a:rPr lang="ru-RU" sz="2400" dirty="0"/>
              <a:t> выборках возрастает по эпохам, следовательно, модель можно продолжить улучшать.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654CFF-8570-30A3-AF5F-2C936F42F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502001"/>
            <a:ext cx="6155141" cy="387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75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D8E8C-AFB1-7B1A-E451-32E1B36F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9753" y="307848"/>
            <a:ext cx="4140014" cy="1330839"/>
          </a:xfrm>
        </p:spPr>
        <p:txBody>
          <a:bodyPr>
            <a:normAutofit/>
          </a:bodyPr>
          <a:lstStyle/>
          <a:p>
            <a:r>
              <a:rPr lang="ru-RU" b="1" dirty="0"/>
              <a:t>Анализ результатов</a:t>
            </a:r>
            <a:endParaRPr lang="ru-RU" dirty="0"/>
          </a:p>
        </p:txBody>
      </p:sp>
      <p:pic>
        <p:nvPicPr>
          <p:cNvPr id="15362" name="Picture 2" descr="Что такое нейросети для чайников: как начать работать с нейросетями">
            <a:extLst>
              <a:ext uri="{FF2B5EF4-FFF2-40B4-BE49-F238E27FC236}">
                <a16:creationId xmlns:a16="http://schemas.microsoft.com/office/drawing/2014/main" id="{06EF8D3F-20D3-A094-2E11-77C951751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8" r="22540"/>
          <a:stretch>
            <a:fillRect/>
          </a:stretch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F0BAE7B-6295-1E07-8A29-91EAAEC1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9753" y="2194102"/>
            <a:ext cx="4599432" cy="4356050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Полученные в ходе тестирования метрики свидетельствуют о том, что модель успешно справляется с задачей бинарной классификации. Высокое значение «</a:t>
            </a:r>
            <a:r>
              <a:rPr lang="ru-RU" sz="2400" dirty="0" err="1"/>
              <a:t>precision</a:t>
            </a:r>
            <a:r>
              <a:rPr lang="ru-RU" sz="2400" dirty="0"/>
              <a:t>» означает низкий уровень ложных срабатываний, а значение «</a:t>
            </a:r>
            <a:r>
              <a:rPr lang="ru-RU" sz="2400" dirty="0" err="1"/>
              <a:t>recall</a:t>
            </a:r>
            <a:r>
              <a:rPr lang="ru-RU" sz="2400" dirty="0"/>
              <a:t>» показывает, что большинство сгенерированных изображений успешно обнаруживаются.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550100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8C65C-3616-023D-2197-6BEECCA8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Вывод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6067DF-49C8-1F78-0FA7-C1A7796B5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457200">
              <a:buNone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Решены все сформулированные задачи: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Проведён анализ предметной области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Построена нейросетевая модель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Осуществлён анализ результатов.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80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Топ-10 ИИ для написания научных работ: лучшие нейросети для диплома и  диссертации">
            <a:extLst>
              <a:ext uri="{FF2B5EF4-FFF2-40B4-BE49-F238E27FC236}">
                <a16:creationId xmlns:a16="http://schemas.microsoft.com/office/drawing/2014/main" id="{852DE45F-B885-00C7-8F89-CBE1599E6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7" name="Freeform: Shape 17416">
            <a:extLst>
              <a:ext uri="{FF2B5EF4-FFF2-40B4-BE49-F238E27FC236}">
                <a16:creationId xmlns:a16="http://schemas.microsoft.com/office/drawing/2014/main" id="{C74F2646-08C7-4051-81DA-751C43A03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099" y="585274"/>
            <a:ext cx="7036051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25400" dir="5400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419" name="Freeform: Shape 17418">
            <a:extLst>
              <a:ext uri="{FF2B5EF4-FFF2-40B4-BE49-F238E27FC236}">
                <a16:creationId xmlns:a16="http://schemas.microsoft.com/office/drawing/2014/main" id="{DCD6552F-C98B-4FBA-842F-3EF2D5AC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099" y="585274"/>
            <a:ext cx="7036051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52B0D-8DB0-2695-80DA-7CF9E34B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99" y="507055"/>
            <a:ext cx="5886449" cy="1211475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17421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5249" y="395108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2D6F50-7F21-6704-2F70-57F5DBBF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99" y="1901824"/>
            <a:ext cx="6811260" cy="3648584"/>
          </a:xfrm>
        </p:spPr>
        <p:txBody>
          <a:bodyPr anchor="ctr">
            <a:noAutofit/>
          </a:bodyPr>
          <a:lstStyle/>
          <a:p>
            <a:pPr indent="457200" algn="just">
              <a:buNone/>
            </a:pPr>
            <a:r>
              <a:rPr lang="ru-RU" sz="2400" dirty="0"/>
              <a:t>Практическая значимость разработанной системы заключается в возможности её интеграции в существующие системы безопасности для автоматической проверки подлинности изображений пользователей, что позволяет снизить риск мошенничества с использованием дипфейк-технологий и снять с пользователя нагрузку по подтверждению личности собеседника.</a:t>
            </a:r>
          </a:p>
        </p:txBody>
      </p:sp>
    </p:spTree>
    <p:extLst>
      <p:ext uri="{BB962C8B-B14F-4D97-AF65-F5344CB8AC3E}">
        <p14:creationId xmlns:p14="http://schemas.microsoft.com/office/powerpoint/2010/main" val="1345206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782</Words>
  <Application>Microsoft Office PowerPoint</Application>
  <PresentationFormat>Широкоэкранный</PresentationFormat>
  <Paragraphs>67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Тема Office</vt:lpstr>
      <vt:lpstr>Определение сгенерированных изображений лиц</vt:lpstr>
      <vt:lpstr>Проблема</vt:lpstr>
      <vt:lpstr>Проблема</vt:lpstr>
      <vt:lpstr>Проблема</vt:lpstr>
      <vt:lpstr>Актуальность</vt:lpstr>
      <vt:lpstr>Актуальность</vt:lpstr>
      <vt:lpstr>Актуальность</vt:lpstr>
      <vt:lpstr>Цель</vt:lpstr>
      <vt:lpstr>Задачи</vt:lpstr>
      <vt:lpstr>Задачи</vt:lpstr>
      <vt:lpstr>Задачи</vt:lpstr>
      <vt:lpstr>Анализ предметной области</vt:lpstr>
      <vt:lpstr>Построение нейросетевой модели</vt:lpstr>
      <vt:lpstr>Построение нейросетевой модели</vt:lpstr>
      <vt:lpstr>Построение нейросетевой модели</vt:lpstr>
      <vt:lpstr>Анализ результатов</vt:lpstr>
      <vt:lpstr>Анализ результатов</vt:lpstr>
      <vt:lpstr>Вывод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Sharigin</dc:creator>
  <cp:lastModifiedBy>Maxim Sharigin</cp:lastModifiedBy>
  <cp:revision>1</cp:revision>
  <dcterms:created xsi:type="dcterms:W3CDTF">2026-04-19T17:31:06Z</dcterms:created>
  <dcterms:modified xsi:type="dcterms:W3CDTF">2026-04-19T19:13:20Z</dcterms:modified>
</cp:coreProperties>
</file>